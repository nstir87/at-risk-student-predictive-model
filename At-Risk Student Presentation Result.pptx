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73356" autoAdjust="0"/>
  </p:normalViewPr>
  <p:slideViewPr>
    <p:cSldViewPr snapToGrid="0">
      <p:cViewPr varScale="1">
        <p:scale>
          <a:sx n="116" d="100"/>
          <a:sy n="116" d="100"/>
        </p:scale>
        <p:origin x="4266" y="114"/>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6C9723-39C3-42FE-A0B2-45AD6E20FBBF}" type="datetimeFigureOut">
              <a:rPr lang="en-US" smtClean="0"/>
              <a:t>5/23/2026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022C7-51AD-4873-83C0-E9EA73B3CB7A}" type="slidenum">
              <a:rPr lang="en-US" smtClean="0"/>
              <a:t>‹#›</a:t>
            </a:fld>
            <a:endParaRPr lang="en-US"/>
          </a:p>
        </p:txBody>
      </p:sp>
    </p:spTree>
    <p:extLst>
      <p:ext uri="{BB962C8B-B14F-4D97-AF65-F5344CB8AC3E}">
        <p14:creationId xmlns:p14="http://schemas.microsoft.com/office/powerpoint/2010/main" val="3524787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present a predictive modeling project focused on identifying students at risk of low attendance. The goal was to evaluate whether machine learning could support early intervention in a university setting while maintaining ethical safeguards.</a:t>
            </a:r>
          </a:p>
        </p:txBody>
      </p:sp>
      <p:sp>
        <p:nvSpPr>
          <p:cNvPr id="4" name="Slide Number Placeholder 3"/>
          <p:cNvSpPr>
            <a:spLocks noGrp="1"/>
          </p:cNvSpPr>
          <p:nvPr>
            <p:ph type="sldNum" sz="quarter" idx="5"/>
          </p:nvPr>
        </p:nvSpPr>
        <p:spPr/>
        <p:txBody>
          <a:bodyPr/>
          <a:lstStyle/>
          <a:p>
            <a:fld id="{BFA022C7-51AD-4873-83C0-E9EA73B3CB7A}" type="slidenum">
              <a:rPr lang="en-US" smtClean="0"/>
              <a:t>1</a:t>
            </a:fld>
            <a:endParaRPr lang="en-US"/>
          </a:p>
        </p:txBody>
      </p:sp>
    </p:spTree>
    <p:extLst>
      <p:ext uri="{BB962C8B-B14F-4D97-AF65-F5344CB8AC3E}">
        <p14:creationId xmlns:p14="http://schemas.microsoft.com/office/powerpoint/2010/main" val="2942690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Declining attendance is often an early indicator of academic difficulty impacting both student engagement and long-term retention. However, institutions typically respond reactively once it is already difficult to change outcomes. Early identification of at-risk students could lead institutions to boost student outcomes which will improve both graduation rates and institutional efficiency. This project explores whether we can identify risk earlier using structured data and predictive modeling. Successful predictive modeling decision support tools could create more efficiencies in advisor outreach, identifying students who need tutoring opportunities and tutoring demand, as well as broader student support opportunities for resource allocation.</a:t>
            </a:r>
          </a:p>
        </p:txBody>
      </p:sp>
      <p:sp>
        <p:nvSpPr>
          <p:cNvPr id="4" name="Slide Number Placeholder 3"/>
          <p:cNvSpPr>
            <a:spLocks noGrp="1"/>
          </p:cNvSpPr>
          <p:nvPr>
            <p:ph type="sldNum" sz="quarter" idx="5"/>
          </p:nvPr>
        </p:nvSpPr>
        <p:spPr/>
        <p:txBody>
          <a:bodyPr/>
          <a:lstStyle/>
          <a:p>
            <a:fld id="{BFA022C7-51AD-4873-83C0-E9EA73B3CB7A}" type="slidenum">
              <a:rPr lang="en-US" smtClean="0"/>
              <a:t>2</a:t>
            </a:fld>
            <a:endParaRPr lang="en-US"/>
          </a:p>
        </p:txBody>
      </p:sp>
    </p:spTree>
    <p:extLst>
      <p:ext uri="{BB962C8B-B14F-4D97-AF65-F5344CB8AC3E}">
        <p14:creationId xmlns:p14="http://schemas.microsoft.com/office/powerpoint/2010/main" val="566791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not just a modeling exercise. The goal was to evaluate model feasibility, operational practicality, and ethical considerations in a real-world deployment context.</a:t>
            </a:r>
          </a:p>
        </p:txBody>
      </p:sp>
      <p:sp>
        <p:nvSpPr>
          <p:cNvPr id="4" name="Slide Number Placeholder 3"/>
          <p:cNvSpPr>
            <a:spLocks noGrp="1"/>
          </p:cNvSpPr>
          <p:nvPr>
            <p:ph type="sldNum" sz="quarter" idx="5"/>
          </p:nvPr>
        </p:nvSpPr>
        <p:spPr/>
        <p:txBody>
          <a:bodyPr/>
          <a:lstStyle/>
          <a:p>
            <a:fld id="{BFA022C7-51AD-4873-83C0-E9EA73B3CB7A}" type="slidenum">
              <a:rPr lang="en-US" smtClean="0"/>
              <a:t>3</a:t>
            </a:fld>
            <a:endParaRPr lang="en-US"/>
          </a:p>
        </p:txBody>
      </p:sp>
    </p:spTree>
    <p:extLst>
      <p:ext uri="{BB962C8B-B14F-4D97-AF65-F5344CB8AC3E}">
        <p14:creationId xmlns:p14="http://schemas.microsoft.com/office/powerpoint/2010/main" val="1147182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a publicly available synthetic student attendance dataset which included behavioral, logistical, and demographic variables. In reviewing the data set it was identified as attendance declined below 80% there was a steady increase in probability of low academic performance. Based off these findings the target variable was set to indicate whether a student was at risk of low attendance. Importantly, this was a binary classification problem focusing on identifying student as at-risk or not at-risk of low attendance.</a:t>
            </a:r>
          </a:p>
        </p:txBody>
      </p:sp>
      <p:sp>
        <p:nvSpPr>
          <p:cNvPr id="4" name="Slide Number Placeholder 3"/>
          <p:cNvSpPr>
            <a:spLocks noGrp="1"/>
          </p:cNvSpPr>
          <p:nvPr>
            <p:ph type="sldNum" sz="quarter" idx="5"/>
          </p:nvPr>
        </p:nvSpPr>
        <p:spPr/>
        <p:txBody>
          <a:bodyPr/>
          <a:lstStyle/>
          <a:p>
            <a:fld id="{BFA022C7-51AD-4873-83C0-E9EA73B3CB7A}" type="slidenum">
              <a:rPr lang="en-US" smtClean="0"/>
              <a:t>4</a:t>
            </a:fld>
            <a:endParaRPr lang="en-US"/>
          </a:p>
        </p:txBody>
      </p:sp>
    </p:spTree>
    <p:extLst>
      <p:ext uri="{BB962C8B-B14F-4D97-AF65-F5344CB8AC3E}">
        <p14:creationId xmlns:p14="http://schemas.microsoft.com/office/powerpoint/2010/main" val="2532707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there was no target variable leakage, academic outcomes were removed from the dataset as well as several demographic categories such as gender to reduce bias and ethical concerns. Preprocessing included encoding categorical variables and ensuring all model inputs were numeric. An 80/20 training/test split was used. Class imbalance was identified with high attendance being the majority of identified students. To prevent training bias class weights were applied to prevent majority-class bias by penalizing misclassification of at-risk students more </a:t>
            </a:r>
            <a:r>
              <a:rPr lang="en-US" dirty="0" err="1"/>
              <a:t>severly</a:t>
            </a:r>
            <a:r>
              <a:rPr lang="en-US" dirty="0"/>
              <a:t>.</a:t>
            </a:r>
          </a:p>
        </p:txBody>
      </p:sp>
      <p:sp>
        <p:nvSpPr>
          <p:cNvPr id="4" name="Slide Number Placeholder 3"/>
          <p:cNvSpPr>
            <a:spLocks noGrp="1"/>
          </p:cNvSpPr>
          <p:nvPr>
            <p:ph type="sldNum" sz="quarter" idx="5"/>
          </p:nvPr>
        </p:nvSpPr>
        <p:spPr/>
        <p:txBody>
          <a:bodyPr/>
          <a:lstStyle/>
          <a:p>
            <a:fld id="{BFA022C7-51AD-4873-83C0-E9EA73B3CB7A}" type="slidenum">
              <a:rPr lang="en-US" smtClean="0"/>
              <a:t>5</a:t>
            </a:fld>
            <a:endParaRPr lang="en-US"/>
          </a:p>
        </p:txBody>
      </p:sp>
    </p:spTree>
    <p:extLst>
      <p:ext uri="{BB962C8B-B14F-4D97-AF65-F5344CB8AC3E}">
        <p14:creationId xmlns:p14="http://schemas.microsoft.com/office/powerpoint/2010/main" val="865201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a linear baseline model with a nonlinear random forest ensemble method. Logistic regression provides interpretability and would create a baseline but assumes linear relationships. To further develop predictive analysis Random Forest captures nonlinear interactions and complex patterns between predictor variables.</a:t>
            </a:r>
          </a:p>
        </p:txBody>
      </p:sp>
      <p:sp>
        <p:nvSpPr>
          <p:cNvPr id="4" name="Slide Number Placeholder 3"/>
          <p:cNvSpPr>
            <a:spLocks noGrp="1"/>
          </p:cNvSpPr>
          <p:nvPr>
            <p:ph type="sldNum" sz="quarter" idx="5"/>
          </p:nvPr>
        </p:nvSpPr>
        <p:spPr/>
        <p:txBody>
          <a:bodyPr/>
          <a:lstStyle/>
          <a:p>
            <a:fld id="{BFA022C7-51AD-4873-83C0-E9EA73B3CB7A}" type="slidenum">
              <a:rPr lang="en-US" smtClean="0"/>
              <a:t>6</a:t>
            </a:fld>
            <a:endParaRPr lang="en-US"/>
          </a:p>
        </p:txBody>
      </p:sp>
    </p:spTree>
    <p:extLst>
      <p:ext uri="{BB962C8B-B14F-4D97-AF65-F5344CB8AC3E}">
        <p14:creationId xmlns:p14="http://schemas.microsoft.com/office/powerpoint/2010/main" val="3768978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logistic regression model performed no better than random chance showing a recall, which was the prioritized evaluation metric, of .51. </a:t>
            </a:r>
            <a:r>
              <a:rPr lang="en-US" sz="1200" kern="1200" dirty="0">
                <a:solidFill>
                  <a:schemeClr val="tx1"/>
                </a:solidFill>
                <a:effectLst/>
                <a:latin typeface="+mn-lt"/>
                <a:ea typeface="+mn-ea"/>
                <a:cs typeface="+mn-cs"/>
              </a:rPr>
              <a:t>Similarly, the highest identified coefficient factor was only 0.013, suggesting minimal explanatory value for attendance decline. </a:t>
            </a:r>
            <a:r>
              <a:rPr lang="en-US" dirty="0"/>
              <a:t>This indicates that linear relationships alone do not adequately explain attendance risk in this dataset.</a:t>
            </a:r>
          </a:p>
        </p:txBody>
      </p:sp>
      <p:sp>
        <p:nvSpPr>
          <p:cNvPr id="4" name="Slide Number Placeholder 3"/>
          <p:cNvSpPr>
            <a:spLocks noGrp="1"/>
          </p:cNvSpPr>
          <p:nvPr>
            <p:ph type="sldNum" sz="quarter" idx="5"/>
          </p:nvPr>
        </p:nvSpPr>
        <p:spPr/>
        <p:txBody>
          <a:bodyPr/>
          <a:lstStyle/>
          <a:p>
            <a:fld id="{BFA022C7-51AD-4873-83C0-E9EA73B3CB7A}" type="slidenum">
              <a:rPr lang="en-US" smtClean="0"/>
              <a:t>7</a:t>
            </a:fld>
            <a:endParaRPr lang="en-US"/>
          </a:p>
        </p:txBody>
      </p:sp>
    </p:spTree>
    <p:extLst>
      <p:ext uri="{BB962C8B-B14F-4D97-AF65-F5344CB8AC3E}">
        <p14:creationId xmlns:p14="http://schemas.microsoft.com/office/powerpoint/2010/main" val="3412530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evaluation with Random Forest significantly outperformed the linear model. An AUC of 0.75 indicates meaningful discrimination. The model correctly identified approximately 65% of at-risk students at the default threshold. This confirmed the presence of non-linear relationships among the predictors. </a:t>
            </a:r>
          </a:p>
          <a:p>
            <a:br>
              <a:rPr lang="en-US" dirty="0"/>
            </a:br>
            <a:endParaRPr lang="en-US" dirty="0"/>
          </a:p>
        </p:txBody>
      </p:sp>
      <p:sp>
        <p:nvSpPr>
          <p:cNvPr id="4" name="Slide Number Placeholder 3"/>
          <p:cNvSpPr>
            <a:spLocks noGrp="1"/>
          </p:cNvSpPr>
          <p:nvPr>
            <p:ph type="sldNum" sz="quarter" idx="5"/>
          </p:nvPr>
        </p:nvSpPr>
        <p:spPr/>
        <p:txBody>
          <a:bodyPr/>
          <a:lstStyle/>
          <a:p>
            <a:fld id="{BFA022C7-51AD-4873-83C0-E9EA73B3CB7A}" type="slidenum">
              <a:rPr lang="en-US" smtClean="0"/>
              <a:t>8</a:t>
            </a:fld>
            <a:endParaRPr lang="en-US"/>
          </a:p>
        </p:txBody>
      </p:sp>
    </p:spTree>
    <p:extLst>
      <p:ext uri="{BB962C8B-B14F-4D97-AF65-F5344CB8AC3E}">
        <p14:creationId xmlns:p14="http://schemas.microsoft.com/office/powerpoint/2010/main" val="1086781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early warning systems, recall is critical—we want to identify struggling students. However, improving recall increases false positives. This tradeoff becomes central in deployment decisions. We can see a significant increase in True positives (at-risk correctly identified) from logistic regression to random forest models. This comes with a decrease in false positive and false negative identification as well overall increase in model accuracy. False positives (students flagged unnecessarily) being of particular importance in operational deployment as efficient use of resources becomes a priority. This is why the focus on recall; the correct identification of all positive cases is the priority for evaluation even at the risk of decreased precision. This target also clearly places this tool as a screening tool and not a diagnostic tool that should indicate certainty in identification.</a:t>
            </a:r>
          </a:p>
        </p:txBody>
      </p:sp>
      <p:sp>
        <p:nvSpPr>
          <p:cNvPr id="4" name="Slide Number Placeholder 3"/>
          <p:cNvSpPr>
            <a:spLocks noGrp="1"/>
          </p:cNvSpPr>
          <p:nvPr>
            <p:ph type="sldNum" sz="quarter" idx="5"/>
          </p:nvPr>
        </p:nvSpPr>
        <p:spPr/>
        <p:txBody>
          <a:bodyPr/>
          <a:lstStyle/>
          <a:p>
            <a:fld id="{BFA022C7-51AD-4873-83C0-E9EA73B3CB7A}" type="slidenum">
              <a:rPr lang="en-US" smtClean="0"/>
              <a:t>9</a:t>
            </a:fld>
            <a:endParaRPr lang="en-US"/>
          </a:p>
        </p:txBody>
      </p:sp>
    </p:spTree>
    <p:extLst>
      <p:ext uri="{BB962C8B-B14F-4D97-AF65-F5344CB8AC3E}">
        <p14:creationId xmlns:p14="http://schemas.microsoft.com/office/powerpoint/2010/main" val="727849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 diagonal (random chance)</a:t>
            </a:r>
          </a:p>
          <a:p>
            <a:r>
              <a:rPr lang="en-US" dirty="0"/>
              <a:t>Random forest above baseline</a:t>
            </a:r>
          </a:p>
          <a:p>
            <a:r>
              <a:rPr lang="en-US" dirty="0"/>
              <a:t>Dataset contains predictive structure, but it is nonlinear</a:t>
            </a:r>
          </a:p>
          <a:p>
            <a:endParaRPr lang="en-US" dirty="0"/>
          </a:p>
          <a:p>
            <a:r>
              <a:rPr lang="en-US" dirty="0"/>
              <a:t>The ROC curve comparison confirms that nonlinear modeling captures predictive structure missed by the linear model. Logistic Regression shows a approximately diagonal ROC Curve with Random Forest well above the baseline. This supports that the dataset contains predictive structure that is non-linear in nature. Model selection materially impacts outcomes and is critical for success.</a:t>
            </a:r>
          </a:p>
        </p:txBody>
      </p:sp>
      <p:sp>
        <p:nvSpPr>
          <p:cNvPr id="4" name="Slide Number Placeholder 3"/>
          <p:cNvSpPr>
            <a:spLocks noGrp="1"/>
          </p:cNvSpPr>
          <p:nvPr>
            <p:ph type="sldNum" sz="quarter" idx="5"/>
          </p:nvPr>
        </p:nvSpPr>
        <p:spPr/>
        <p:txBody>
          <a:bodyPr/>
          <a:lstStyle/>
          <a:p>
            <a:fld id="{BFA022C7-51AD-4873-83C0-E9EA73B3CB7A}" type="slidenum">
              <a:rPr lang="en-US" smtClean="0"/>
              <a:t>10</a:t>
            </a:fld>
            <a:endParaRPr lang="en-US"/>
          </a:p>
        </p:txBody>
      </p:sp>
    </p:spTree>
    <p:extLst>
      <p:ext uri="{BB962C8B-B14F-4D97-AF65-F5344CB8AC3E}">
        <p14:creationId xmlns:p14="http://schemas.microsoft.com/office/powerpoint/2010/main" val="2900590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engagement—specifically study hours—was by far the dominant predictor with a 79% importance. Demographic factors, such as age, as well as additional factors such as travel time and extra activities played a minimal role. This suggests behavioral engagement monitoring may be more impactful than static demographic profiling. Intervention strategies should be focused on these engagement patterns as well to influence uptake and impact.</a:t>
            </a:r>
          </a:p>
        </p:txBody>
      </p:sp>
      <p:sp>
        <p:nvSpPr>
          <p:cNvPr id="4" name="Slide Number Placeholder 3"/>
          <p:cNvSpPr>
            <a:spLocks noGrp="1"/>
          </p:cNvSpPr>
          <p:nvPr>
            <p:ph type="sldNum" sz="quarter" idx="5"/>
          </p:nvPr>
        </p:nvSpPr>
        <p:spPr/>
        <p:txBody>
          <a:bodyPr/>
          <a:lstStyle/>
          <a:p>
            <a:fld id="{BFA022C7-51AD-4873-83C0-E9EA73B3CB7A}" type="slidenum">
              <a:rPr lang="en-US" smtClean="0"/>
              <a:t>11</a:t>
            </a:fld>
            <a:endParaRPr lang="en-US"/>
          </a:p>
        </p:txBody>
      </p:sp>
    </p:spTree>
    <p:extLst>
      <p:ext uri="{BB962C8B-B14F-4D97-AF65-F5344CB8AC3E}">
        <p14:creationId xmlns:p14="http://schemas.microsoft.com/office/powerpoint/2010/main" val="2972479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models default to a 0.50 probability cutoff. However, institutions may prioritize detecting as many at-risk students as possible maximizing recall in alignment with an early warning tool or decision threshold for at-risk identification could be increased due to constrained resources. Threshold tuning aligns model output with institutional objectives and resources allowing for the model to be implemented across institutions and be functional as circumstances change.</a:t>
            </a:r>
          </a:p>
        </p:txBody>
      </p:sp>
      <p:sp>
        <p:nvSpPr>
          <p:cNvPr id="4" name="Slide Number Placeholder 3"/>
          <p:cNvSpPr>
            <a:spLocks noGrp="1"/>
          </p:cNvSpPr>
          <p:nvPr>
            <p:ph type="sldNum" sz="quarter" idx="5"/>
          </p:nvPr>
        </p:nvSpPr>
        <p:spPr/>
        <p:txBody>
          <a:bodyPr/>
          <a:lstStyle/>
          <a:p>
            <a:fld id="{BFA022C7-51AD-4873-83C0-E9EA73B3CB7A}" type="slidenum">
              <a:rPr lang="en-US" smtClean="0"/>
              <a:t>12</a:t>
            </a:fld>
            <a:endParaRPr lang="en-US"/>
          </a:p>
        </p:txBody>
      </p:sp>
    </p:spTree>
    <p:extLst>
      <p:ext uri="{BB962C8B-B14F-4D97-AF65-F5344CB8AC3E}">
        <p14:creationId xmlns:p14="http://schemas.microsoft.com/office/powerpoint/2010/main" val="1757619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Focusing on higher recall increases students flagged as at-risk increasing potential intervention opportunities and resource demands. Through evaluating performance across several threshold we were able to identify that model effectiveness was demonstrated across a wide array of thresholds. At a threshold of approximately 0.34, the model achieved nearly 78% recall without a significant decrease in precision. This demonstrates that high detection is possible without extreme over-classification.</a:t>
            </a:r>
          </a:p>
        </p:txBody>
      </p:sp>
      <p:sp>
        <p:nvSpPr>
          <p:cNvPr id="4" name="Slide Number Placeholder 3"/>
          <p:cNvSpPr>
            <a:spLocks noGrp="1"/>
          </p:cNvSpPr>
          <p:nvPr>
            <p:ph type="sldNum" sz="quarter" idx="5"/>
          </p:nvPr>
        </p:nvSpPr>
        <p:spPr/>
        <p:txBody>
          <a:bodyPr/>
          <a:lstStyle/>
          <a:p>
            <a:fld id="{BFA022C7-51AD-4873-83C0-E9EA73B3CB7A}" type="slidenum">
              <a:rPr lang="en-US" smtClean="0"/>
              <a:t>13</a:t>
            </a:fld>
            <a:endParaRPr lang="en-US"/>
          </a:p>
        </p:txBody>
      </p:sp>
    </p:spTree>
    <p:extLst>
      <p:ext uri="{BB962C8B-B14F-4D97-AF65-F5344CB8AC3E}">
        <p14:creationId xmlns:p14="http://schemas.microsoft.com/office/powerpoint/2010/main" val="1985082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Metrics can be adjusted to refine the model outputs to align with advising and intervention workload with institutional capacity. Operational deployment requires balancing detection rates with advising capacity. Threshold choice directly determines how many students will receive outreach. We can see here adjustment of the threshold based on institutional approach on the test population creating an early warning focus identifying 4029 students or an efficiency focus decreasing the population of at-risk students of 2680.</a:t>
            </a:r>
          </a:p>
        </p:txBody>
      </p:sp>
      <p:sp>
        <p:nvSpPr>
          <p:cNvPr id="4" name="Slide Number Placeholder 3"/>
          <p:cNvSpPr>
            <a:spLocks noGrp="1"/>
          </p:cNvSpPr>
          <p:nvPr>
            <p:ph type="sldNum" sz="quarter" idx="5"/>
          </p:nvPr>
        </p:nvSpPr>
        <p:spPr/>
        <p:txBody>
          <a:bodyPr/>
          <a:lstStyle/>
          <a:p>
            <a:fld id="{BFA022C7-51AD-4873-83C0-E9EA73B3CB7A}" type="slidenum">
              <a:rPr lang="en-US" smtClean="0"/>
              <a:t>14</a:t>
            </a:fld>
            <a:endParaRPr lang="en-US"/>
          </a:p>
        </p:txBody>
      </p:sp>
    </p:spTree>
    <p:extLst>
      <p:ext uri="{BB962C8B-B14F-4D97-AF65-F5344CB8AC3E}">
        <p14:creationId xmlns:p14="http://schemas.microsoft.com/office/powerpoint/2010/main" val="2811014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 Random Forest model demonstrated meaningful predictive capability, operationalizing its use must be carefully governed to prevent unintended harm.</a:t>
            </a:r>
            <a:r>
              <a:rPr lang="en-US" dirty="0"/>
              <a:t> Models may unintentionally encode structural inequities. </a:t>
            </a:r>
            <a:r>
              <a:rPr lang="en-US" sz="1200" kern="1200" dirty="0">
                <a:solidFill>
                  <a:schemeClr val="tx1"/>
                </a:solidFill>
                <a:effectLst/>
                <a:latin typeface="+mn-lt"/>
                <a:ea typeface="+mn-ea"/>
                <a:cs typeface="+mn-cs"/>
              </a:rPr>
              <a:t>Factors such as study hours, travel time, or access to resources may correlate with socioeconomic conditions rather than student motivation alone. </a:t>
            </a:r>
            <a:r>
              <a:rPr lang="en-US" dirty="0"/>
              <a:t>Predictions must be used only for supportive outreach, not punitive measures. Student labeling </a:t>
            </a:r>
            <a:r>
              <a:rPr lang="en-US" sz="1200" kern="1200" dirty="0">
                <a:solidFill>
                  <a:schemeClr val="tx1"/>
                </a:solidFill>
                <a:effectLst/>
                <a:latin typeface="+mn-lt"/>
                <a:ea typeface="+mn-ea"/>
                <a:cs typeface="+mn-cs"/>
              </a:rPr>
              <a:t>could create stigma, unnecessary monitoring, or reduce student trust if predictions are interpreted as judgments rather than risk indicators. This reinforces the need to frame the outputs as strictly decision-support signals to guide voluntary outreach and resource allocation, not disciplinary or evaluative actions. Transparency and explainability also present ethical obligations. Tree-based ensemble models, while more accurate than linear approaches in this effort, are less inherently interpretable. Clear communication about which data are being used, how predictions are generated, and how the results are used to inform interventions is required. </a:t>
            </a:r>
            <a:endParaRPr lang="en-US" dirty="0"/>
          </a:p>
        </p:txBody>
      </p:sp>
      <p:sp>
        <p:nvSpPr>
          <p:cNvPr id="4" name="Slide Number Placeholder 3"/>
          <p:cNvSpPr>
            <a:spLocks noGrp="1"/>
          </p:cNvSpPr>
          <p:nvPr>
            <p:ph type="sldNum" sz="quarter" idx="5"/>
          </p:nvPr>
        </p:nvSpPr>
        <p:spPr/>
        <p:txBody>
          <a:bodyPr/>
          <a:lstStyle/>
          <a:p>
            <a:fld id="{BFA022C7-51AD-4873-83C0-E9EA73B3CB7A}" type="slidenum">
              <a:rPr lang="en-US" smtClean="0"/>
              <a:t>15</a:t>
            </a:fld>
            <a:endParaRPr lang="en-US"/>
          </a:p>
        </p:txBody>
      </p:sp>
    </p:spTree>
    <p:extLst>
      <p:ext uri="{BB962C8B-B14F-4D97-AF65-F5344CB8AC3E}">
        <p14:creationId xmlns:p14="http://schemas.microsoft.com/office/powerpoint/2010/main" val="2174898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Despite these promising results, the model is not yet suitable for full automation. Limitations include the absence of longitudinal attendance history, limited contextual socioeconomic variables, and reliance on a single cross-sectional dataset. Additionally, ethical considerations—particularly bias risk, false positives, and governance of model use—necessitate cautious implementation with strong institutional safeguards.</a:t>
            </a:r>
          </a:p>
        </p:txBody>
      </p:sp>
      <p:sp>
        <p:nvSpPr>
          <p:cNvPr id="4" name="Slide Number Placeholder 3"/>
          <p:cNvSpPr>
            <a:spLocks noGrp="1"/>
          </p:cNvSpPr>
          <p:nvPr>
            <p:ph type="sldNum" sz="quarter" idx="5"/>
          </p:nvPr>
        </p:nvSpPr>
        <p:spPr/>
        <p:txBody>
          <a:bodyPr/>
          <a:lstStyle/>
          <a:p>
            <a:fld id="{BFA022C7-51AD-4873-83C0-E9EA73B3CB7A}" type="slidenum">
              <a:rPr lang="en-US" smtClean="0"/>
              <a:t>16</a:t>
            </a:fld>
            <a:endParaRPr lang="en-US"/>
          </a:p>
        </p:txBody>
      </p:sp>
    </p:spTree>
    <p:extLst>
      <p:ext uri="{BB962C8B-B14F-4D97-AF65-F5344CB8AC3E}">
        <p14:creationId xmlns:p14="http://schemas.microsoft.com/office/powerpoint/2010/main" val="3848184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deploying this model only as a decision-support tool with human oversight. Thresholds should reflect institutional capacity and ethical considerations. Additional longitudinal and contextual features available should be added to enhance predictive value. Continued  governance and audits is important to ensure continued effectiveness and fairness.</a:t>
            </a:r>
          </a:p>
          <a:p>
            <a:br>
              <a:rPr lang="en-US" dirty="0"/>
            </a:br>
            <a:endParaRPr lang="en-US" dirty="0"/>
          </a:p>
        </p:txBody>
      </p:sp>
      <p:sp>
        <p:nvSpPr>
          <p:cNvPr id="4" name="Slide Number Placeholder 3"/>
          <p:cNvSpPr>
            <a:spLocks noGrp="1"/>
          </p:cNvSpPr>
          <p:nvPr>
            <p:ph type="sldNum" sz="quarter" idx="5"/>
          </p:nvPr>
        </p:nvSpPr>
        <p:spPr/>
        <p:txBody>
          <a:bodyPr/>
          <a:lstStyle/>
          <a:p>
            <a:fld id="{BFA022C7-51AD-4873-83C0-E9EA73B3CB7A}" type="slidenum">
              <a:rPr lang="en-US" smtClean="0"/>
              <a:t>17</a:t>
            </a:fld>
            <a:endParaRPr lang="en-US"/>
          </a:p>
        </p:txBody>
      </p:sp>
    </p:spTree>
    <p:extLst>
      <p:ext uri="{BB962C8B-B14F-4D97-AF65-F5344CB8AC3E}">
        <p14:creationId xmlns:p14="http://schemas.microsoft.com/office/powerpoint/2010/main" val="2160851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predictive modeling can meaningfully support early attendance intervention with model choice being key for success. However, successful implementation requires thoughtful threshold selection, ethical safeguards, and continued data refinement. This is a strong start to development, but continued development and refinement would be required for deployment with structured governance.</a:t>
            </a:r>
          </a:p>
          <a:p>
            <a:endParaRPr lang="en-US" dirty="0"/>
          </a:p>
        </p:txBody>
      </p:sp>
      <p:sp>
        <p:nvSpPr>
          <p:cNvPr id="4" name="Slide Number Placeholder 3"/>
          <p:cNvSpPr>
            <a:spLocks noGrp="1"/>
          </p:cNvSpPr>
          <p:nvPr>
            <p:ph type="sldNum" sz="quarter" idx="5"/>
          </p:nvPr>
        </p:nvSpPr>
        <p:spPr/>
        <p:txBody>
          <a:bodyPr/>
          <a:lstStyle/>
          <a:p>
            <a:fld id="{BFA022C7-51AD-4873-83C0-E9EA73B3CB7A}" type="slidenum">
              <a:rPr lang="en-US" smtClean="0"/>
              <a:t>18</a:t>
            </a:fld>
            <a:endParaRPr lang="en-US"/>
          </a:p>
        </p:txBody>
      </p:sp>
    </p:spTree>
    <p:extLst>
      <p:ext uri="{BB962C8B-B14F-4D97-AF65-F5344CB8AC3E}">
        <p14:creationId xmlns:p14="http://schemas.microsoft.com/office/powerpoint/2010/main" val="32574487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75BD204C-7D4F-46D8-92BC-20E38AD70819}" type="slidenum">
              <a:rPr lang="en-US" smtClean="0"/>
              <a:t>‹#›</a:t>
            </a:fld>
            <a:endParaRPr lang="en-US"/>
          </a:p>
        </p:txBody>
      </p:sp>
    </p:spTree>
    <p:extLst>
      <p:ext uri="{BB962C8B-B14F-4D97-AF65-F5344CB8AC3E}">
        <p14:creationId xmlns:p14="http://schemas.microsoft.com/office/powerpoint/2010/main" val="2053628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lvl1pPr>
              <a:defRPr sz="1000" b="1"/>
            </a:lvl1pPr>
          </a:lstStyle>
          <a:p>
            <a:endParaRPr lang="en-US"/>
          </a:p>
        </p:txBody>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305836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lvl1pPr>
              <a:defRPr sz="1000" b="1"/>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277896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2A36C5-C594-4EDC-96E3-7201E8ACC3D0}"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578089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2A36C5-C594-4EDC-96E3-7201E8ACC3D0}"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3272743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2A36C5-C594-4EDC-96E3-7201E8ACC3D0}"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399223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2A36C5-C594-4EDC-96E3-7201E8ACC3D0}"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2196208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2A36C5-C594-4EDC-96E3-7201E8ACC3D0}"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163691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2A36C5-C594-4EDC-96E3-7201E8ACC3D0}"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2815307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2A36C5-C594-4EDC-96E3-7201E8ACC3D0}"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729164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2788390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1860908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4073605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D2A36C5-C594-4EDC-96E3-7201E8ACC3D0}"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245230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D2A36C5-C594-4EDC-96E3-7201E8ACC3D0}"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4170024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1760348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2A36C5-C594-4EDC-96E3-7201E8ACC3D0}"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5BD204C-7D4F-46D8-92BC-20E38AD70819}" type="slidenum">
              <a:rPr lang="en-US" smtClean="0"/>
              <a:t>‹#›</a:t>
            </a:fld>
            <a:endParaRPr lang="en-US"/>
          </a:p>
        </p:txBody>
      </p:sp>
    </p:spTree>
    <p:extLst>
      <p:ext uri="{BB962C8B-B14F-4D97-AF65-F5344CB8AC3E}">
        <p14:creationId xmlns:p14="http://schemas.microsoft.com/office/powerpoint/2010/main" val="2260054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6D2A36C5-C594-4EDC-96E3-7201E8ACC3D0}" type="datetimeFigureOut">
              <a:rPr lang="en-US" smtClean="0"/>
              <a:t>5/23/2026</a:t>
            </a:fld>
            <a:endParaRPr lang="en-US"/>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5BD204C-7D4F-46D8-92BC-20E38AD70819}" type="slidenum">
              <a:rPr lang="en-US" smtClean="0"/>
              <a:t>‹#›</a:t>
            </a:fld>
            <a:endParaRPr lang="en-US"/>
          </a:p>
        </p:txBody>
      </p:sp>
    </p:spTree>
    <p:extLst>
      <p:ext uri="{BB962C8B-B14F-4D97-AF65-F5344CB8AC3E}">
        <p14:creationId xmlns:p14="http://schemas.microsoft.com/office/powerpoint/2010/main" val="363626340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kundanbedmutha/student-performance-dataset?resource=downloa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DB172-96AA-139B-8C60-13BCAA3E5DF6}"/>
              </a:ext>
            </a:extLst>
          </p:cNvPr>
          <p:cNvSpPr>
            <a:spLocks noGrp="1"/>
          </p:cNvSpPr>
          <p:nvPr>
            <p:ph type="ctrTitle"/>
          </p:nvPr>
        </p:nvSpPr>
        <p:spPr>
          <a:xfrm>
            <a:off x="999843" y="1959428"/>
            <a:ext cx="10192314" cy="1920970"/>
          </a:xfrm>
        </p:spPr>
        <p:txBody>
          <a:bodyPr/>
          <a:lstStyle/>
          <a:p>
            <a:r>
              <a:rPr lang="en-US" dirty="0"/>
              <a:t>Early Student Intervention Student Attendance Indicator</a:t>
            </a:r>
          </a:p>
        </p:txBody>
      </p:sp>
      <p:sp>
        <p:nvSpPr>
          <p:cNvPr id="3" name="Subtitle 2">
            <a:extLst>
              <a:ext uri="{FF2B5EF4-FFF2-40B4-BE49-F238E27FC236}">
                <a16:creationId xmlns:a16="http://schemas.microsoft.com/office/drawing/2014/main" id="{147454AC-E89F-3C82-B17C-44255E252703}"/>
              </a:ext>
            </a:extLst>
          </p:cNvPr>
          <p:cNvSpPr>
            <a:spLocks noGrp="1"/>
          </p:cNvSpPr>
          <p:nvPr>
            <p:ph type="subTitle" idx="1"/>
          </p:nvPr>
        </p:nvSpPr>
        <p:spPr>
          <a:xfrm>
            <a:off x="999843" y="4028444"/>
            <a:ext cx="8825658" cy="1423122"/>
          </a:xfrm>
        </p:spPr>
        <p:txBody>
          <a:bodyPr>
            <a:normAutofit fontScale="92500" lnSpcReduction="10000"/>
          </a:bodyPr>
          <a:lstStyle/>
          <a:p>
            <a:r>
              <a:rPr lang="en-US" dirty="0"/>
              <a:t>Nicholas Stirling</a:t>
            </a:r>
          </a:p>
          <a:p>
            <a:r>
              <a:rPr lang="en-US" dirty="0"/>
              <a:t>Bellevue University</a:t>
            </a:r>
          </a:p>
          <a:p>
            <a:r>
              <a:rPr lang="en-US" dirty="0"/>
              <a:t>DSC630 – Predictive analytics</a:t>
            </a:r>
          </a:p>
          <a:p>
            <a:r>
              <a:rPr lang="en-US" dirty="0"/>
              <a:t>Professor Frank Neugebauer</a:t>
            </a:r>
          </a:p>
          <a:p>
            <a:endParaRPr lang="en-US" dirty="0"/>
          </a:p>
          <a:p>
            <a:endParaRPr lang="en-US" dirty="0"/>
          </a:p>
        </p:txBody>
      </p:sp>
    </p:spTree>
    <p:extLst>
      <p:ext uri="{BB962C8B-B14F-4D97-AF65-F5344CB8AC3E}">
        <p14:creationId xmlns:p14="http://schemas.microsoft.com/office/powerpoint/2010/main" val="173330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2281D-4307-5CDD-3C4E-65B721E359CE}"/>
              </a:ext>
            </a:extLst>
          </p:cNvPr>
          <p:cNvSpPr>
            <a:spLocks noGrp="1"/>
          </p:cNvSpPr>
          <p:nvPr>
            <p:ph type="title"/>
          </p:nvPr>
        </p:nvSpPr>
        <p:spPr/>
        <p:txBody>
          <a:bodyPr/>
          <a:lstStyle/>
          <a:p>
            <a:r>
              <a:rPr lang="en-US" dirty="0"/>
              <a:t>Effective and Efficient Support</a:t>
            </a:r>
          </a:p>
        </p:txBody>
      </p:sp>
      <p:sp>
        <p:nvSpPr>
          <p:cNvPr id="3" name="Content Placeholder 2">
            <a:extLst>
              <a:ext uri="{FF2B5EF4-FFF2-40B4-BE49-F238E27FC236}">
                <a16:creationId xmlns:a16="http://schemas.microsoft.com/office/drawing/2014/main" id="{C5E277F7-B4F3-F776-F62F-EFD0C3453933}"/>
              </a:ext>
            </a:extLst>
          </p:cNvPr>
          <p:cNvSpPr>
            <a:spLocks noGrp="1"/>
          </p:cNvSpPr>
          <p:nvPr>
            <p:ph idx="1"/>
          </p:nvPr>
        </p:nvSpPr>
        <p:spPr/>
        <p:txBody>
          <a:bodyPr>
            <a:normAutofit fontScale="92500"/>
          </a:bodyPr>
          <a:lstStyle/>
          <a:p>
            <a:r>
              <a:rPr lang="en-US" sz="2400" dirty="0"/>
              <a:t>Student attendance is a leading indicator of academic performance, engagement, and long-term retention</a:t>
            </a:r>
          </a:p>
          <a:p>
            <a:r>
              <a:rPr lang="en-US" sz="2400" dirty="0"/>
              <a:t>Early identification and intervention could lead to improvement in student outcomes and institutional efficiency</a:t>
            </a:r>
          </a:p>
          <a:p>
            <a:r>
              <a:rPr lang="en-US" sz="2400" dirty="0"/>
              <a:t>Predictive modeling decision support tool offers:</a:t>
            </a:r>
          </a:p>
          <a:p>
            <a:pPr lvl="1"/>
            <a:r>
              <a:rPr lang="en-US" sz="2000" dirty="0"/>
              <a:t>Efficient advisor outreach</a:t>
            </a:r>
          </a:p>
          <a:p>
            <a:pPr lvl="1"/>
            <a:r>
              <a:rPr lang="en-US" sz="2000" dirty="0"/>
              <a:t>Potential tutoring needs</a:t>
            </a:r>
          </a:p>
          <a:p>
            <a:pPr lvl="1"/>
            <a:r>
              <a:rPr lang="en-US" sz="2000" dirty="0"/>
              <a:t>Identification of student support opportunities</a:t>
            </a:r>
          </a:p>
        </p:txBody>
      </p:sp>
    </p:spTree>
    <p:extLst>
      <p:ext uri="{BB962C8B-B14F-4D97-AF65-F5344CB8AC3E}">
        <p14:creationId xmlns:p14="http://schemas.microsoft.com/office/powerpoint/2010/main" val="3862628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F9D5D-8606-CA20-B643-37EF3C46571D}"/>
              </a:ext>
            </a:extLst>
          </p:cNvPr>
          <p:cNvSpPr>
            <a:spLocks noGrp="1"/>
          </p:cNvSpPr>
          <p:nvPr>
            <p:ph type="title"/>
          </p:nvPr>
        </p:nvSpPr>
        <p:spPr/>
        <p:txBody>
          <a:bodyPr/>
          <a:lstStyle/>
          <a:p>
            <a:r>
              <a:rPr lang="en-US" dirty="0"/>
              <a:t>Project Objective</a:t>
            </a:r>
          </a:p>
        </p:txBody>
      </p:sp>
      <p:sp>
        <p:nvSpPr>
          <p:cNvPr id="3" name="Content Placeholder 2">
            <a:extLst>
              <a:ext uri="{FF2B5EF4-FFF2-40B4-BE49-F238E27FC236}">
                <a16:creationId xmlns:a16="http://schemas.microsoft.com/office/drawing/2014/main" id="{60F520AB-BE11-774E-DE23-30DA48709326}"/>
              </a:ext>
            </a:extLst>
          </p:cNvPr>
          <p:cNvSpPr>
            <a:spLocks noGrp="1"/>
          </p:cNvSpPr>
          <p:nvPr>
            <p:ph idx="1"/>
          </p:nvPr>
        </p:nvSpPr>
        <p:spPr/>
        <p:txBody>
          <a:bodyPr>
            <a:normAutofit/>
          </a:bodyPr>
          <a:lstStyle/>
          <a:p>
            <a:r>
              <a:rPr lang="en-US" sz="2400" dirty="0"/>
              <a:t>Build a predictive model to identify students with low attendance risk</a:t>
            </a:r>
          </a:p>
          <a:p>
            <a:endParaRPr lang="en-US" sz="2400" dirty="0"/>
          </a:p>
          <a:p>
            <a:r>
              <a:rPr lang="en-US" sz="2400" dirty="0"/>
              <a:t>Evaluate operational feasibility through evaluation and threshold tuning</a:t>
            </a:r>
          </a:p>
          <a:p>
            <a:endParaRPr lang="en-US" sz="2400" dirty="0"/>
          </a:p>
          <a:p>
            <a:r>
              <a:rPr lang="en-US" sz="2400" dirty="0"/>
              <a:t>Assess potential ethical implications of deployment</a:t>
            </a:r>
          </a:p>
        </p:txBody>
      </p:sp>
    </p:spTree>
    <p:extLst>
      <p:ext uri="{BB962C8B-B14F-4D97-AF65-F5344CB8AC3E}">
        <p14:creationId xmlns:p14="http://schemas.microsoft.com/office/powerpoint/2010/main" val="482878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6E236-52E1-51C6-3D19-2BB4852C936D}"/>
              </a:ext>
            </a:extLst>
          </p:cNvPr>
          <p:cNvSpPr>
            <a:spLocks noGrp="1"/>
          </p:cNvSpPr>
          <p:nvPr>
            <p:ph type="title"/>
          </p:nvPr>
        </p:nvSpPr>
        <p:spPr/>
        <p:txBody>
          <a:bodyPr/>
          <a:lstStyle/>
          <a:p>
            <a:r>
              <a:rPr lang="en-US" dirty="0"/>
              <a:t>Training Dataset</a:t>
            </a:r>
          </a:p>
        </p:txBody>
      </p:sp>
      <p:sp>
        <p:nvSpPr>
          <p:cNvPr id="3" name="Content Placeholder 2">
            <a:extLst>
              <a:ext uri="{FF2B5EF4-FFF2-40B4-BE49-F238E27FC236}">
                <a16:creationId xmlns:a16="http://schemas.microsoft.com/office/drawing/2014/main" id="{CB77A144-506C-77E2-BEC0-B6DC45C6433F}"/>
              </a:ext>
            </a:extLst>
          </p:cNvPr>
          <p:cNvSpPr>
            <a:spLocks noGrp="1"/>
          </p:cNvSpPr>
          <p:nvPr>
            <p:ph idx="1"/>
          </p:nvPr>
        </p:nvSpPr>
        <p:spPr/>
        <p:txBody>
          <a:bodyPr>
            <a:normAutofit fontScale="92500" lnSpcReduction="20000"/>
          </a:bodyPr>
          <a:lstStyle/>
          <a:p>
            <a:r>
              <a:rPr lang="en-US" sz="2400" dirty="0"/>
              <a:t>Synthetic student attendance data with predictive categories including:</a:t>
            </a:r>
          </a:p>
          <a:p>
            <a:pPr lvl="1"/>
            <a:r>
              <a:rPr lang="en-US" sz="2000" dirty="0"/>
              <a:t>Behavioral (study hours)</a:t>
            </a:r>
          </a:p>
          <a:p>
            <a:pPr lvl="1"/>
            <a:r>
              <a:rPr lang="en-US" sz="2000" dirty="0"/>
              <a:t>Logistical (travel time)</a:t>
            </a:r>
          </a:p>
          <a:p>
            <a:pPr lvl="1"/>
            <a:r>
              <a:rPr lang="en-US" sz="2000" dirty="0"/>
              <a:t>Demographic (age, school type)</a:t>
            </a:r>
          </a:p>
          <a:p>
            <a:pPr lvl="1"/>
            <a:r>
              <a:rPr lang="en-US" sz="2000" dirty="0"/>
              <a:t>Engagement (Extracurricular activities, internet access)</a:t>
            </a:r>
          </a:p>
          <a:p>
            <a:pPr lvl="1"/>
            <a:endParaRPr lang="en-US" sz="2000" dirty="0"/>
          </a:p>
          <a:p>
            <a:r>
              <a:rPr lang="en-US" sz="2200" dirty="0"/>
              <a:t>Source: </a:t>
            </a:r>
            <a:r>
              <a:rPr lang="en-US" i="1" dirty="0"/>
              <a:t>Student Performance Dataset</a:t>
            </a:r>
            <a:r>
              <a:rPr lang="en-US" dirty="0"/>
              <a:t>. Kaggle.com. </a:t>
            </a:r>
            <a:r>
              <a:rPr lang="en-US" sz="2200" dirty="0"/>
              <a:t> </a:t>
            </a:r>
            <a:r>
              <a:rPr lang="en-US" sz="2200" dirty="0">
                <a:hlinkClick r:id="rId3"/>
              </a:rPr>
              <a:t>https://www.kaggle.com/datasets/kundanbedmutha/student-performance-dataset?resource=download</a:t>
            </a:r>
            <a:endParaRPr lang="en-US" sz="2200" dirty="0"/>
          </a:p>
        </p:txBody>
      </p:sp>
    </p:spTree>
    <p:extLst>
      <p:ext uri="{BB962C8B-B14F-4D97-AF65-F5344CB8AC3E}">
        <p14:creationId xmlns:p14="http://schemas.microsoft.com/office/powerpoint/2010/main" val="651587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AD75F-8A6B-7CB5-80DB-8BA2DB2BB798}"/>
              </a:ext>
            </a:extLst>
          </p:cNvPr>
          <p:cNvSpPr>
            <a:spLocks noGrp="1"/>
          </p:cNvSpPr>
          <p:nvPr>
            <p:ph type="title"/>
          </p:nvPr>
        </p:nvSpPr>
        <p:spPr/>
        <p:txBody>
          <a:bodyPr/>
          <a:lstStyle/>
          <a:p>
            <a:r>
              <a:rPr lang="en-US" dirty="0"/>
              <a:t>Data Preparation</a:t>
            </a:r>
          </a:p>
        </p:txBody>
      </p:sp>
      <p:sp>
        <p:nvSpPr>
          <p:cNvPr id="3" name="Content Placeholder 2">
            <a:extLst>
              <a:ext uri="{FF2B5EF4-FFF2-40B4-BE49-F238E27FC236}">
                <a16:creationId xmlns:a16="http://schemas.microsoft.com/office/drawing/2014/main" id="{01AF68A2-3A6C-7331-1E0F-8CB53C824669}"/>
              </a:ext>
            </a:extLst>
          </p:cNvPr>
          <p:cNvSpPr>
            <a:spLocks noGrp="1"/>
          </p:cNvSpPr>
          <p:nvPr>
            <p:ph idx="1"/>
          </p:nvPr>
        </p:nvSpPr>
        <p:spPr>
          <a:xfrm>
            <a:off x="1154955" y="2603500"/>
            <a:ext cx="8328680" cy="3416300"/>
          </a:xfrm>
        </p:spPr>
        <p:txBody>
          <a:bodyPr>
            <a:normAutofit fontScale="85000" lnSpcReduction="20000"/>
          </a:bodyPr>
          <a:lstStyle/>
          <a:p>
            <a:r>
              <a:rPr lang="en-US" sz="2400" dirty="0"/>
              <a:t>Categorical variables were encoded for model interpretation(gender, school type, parent education, internet access, extra activities, study method)</a:t>
            </a:r>
          </a:p>
          <a:p>
            <a:endParaRPr lang="en-US" sz="2400" dirty="0"/>
          </a:p>
          <a:p>
            <a:r>
              <a:rPr lang="en-US" sz="2400" dirty="0"/>
              <a:t>Travel Time encoded buckets (&lt;15 min,15-30 min, 30-60 min, &gt;60 min)</a:t>
            </a:r>
          </a:p>
          <a:p>
            <a:endParaRPr lang="en-US" sz="2400" dirty="0"/>
          </a:p>
          <a:p>
            <a:r>
              <a:rPr lang="en-US" sz="2400" dirty="0"/>
              <a:t>80/20 Training/Test Split</a:t>
            </a:r>
          </a:p>
          <a:p>
            <a:endParaRPr lang="en-US" sz="2400" dirty="0"/>
          </a:p>
          <a:p>
            <a:r>
              <a:rPr lang="en-US" sz="2400" dirty="0"/>
              <a:t>Class Imbalance treatment</a:t>
            </a:r>
          </a:p>
          <a:p>
            <a:pPr marL="0" indent="0">
              <a:buNone/>
            </a:pPr>
            <a:endParaRPr lang="en-US" dirty="0"/>
          </a:p>
        </p:txBody>
      </p:sp>
    </p:spTree>
    <p:extLst>
      <p:ext uri="{BB962C8B-B14F-4D97-AF65-F5344CB8AC3E}">
        <p14:creationId xmlns:p14="http://schemas.microsoft.com/office/powerpoint/2010/main" val="1886909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15DF7-D64F-7F7D-C460-890EFB64282D}"/>
              </a:ext>
            </a:extLst>
          </p:cNvPr>
          <p:cNvSpPr>
            <a:spLocks noGrp="1"/>
          </p:cNvSpPr>
          <p:nvPr>
            <p:ph type="title"/>
          </p:nvPr>
        </p:nvSpPr>
        <p:spPr/>
        <p:txBody>
          <a:bodyPr/>
          <a:lstStyle/>
          <a:p>
            <a:r>
              <a:rPr lang="en-US" dirty="0"/>
              <a:t>Modeling Approach</a:t>
            </a:r>
          </a:p>
        </p:txBody>
      </p:sp>
      <p:sp>
        <p:nvSpPr>
          <p:cNvPr id="3" name="Content Placeholder 2">
            <a:extLst>
              <a:ext uri="{FF2B5EF4-FFF2-40B4-BE49-F238E27FC236}">
                <a16:creationId xmlns:a16="http://schemas.microsoft.com/office/drawing/2014/main" id="{814B049F-D499-B6AC-D014-00356AEDD9FA}"/>
              </a:ext>
            </a:extLst>
          </p:cNvPr>
          <p:cNvSpPr>
            <a:spLocks noGrp="1"/>
          </p:cNvSpPr>
          <p:nvPr>
            <p:ph idx="1"/>
          </p:nvPr>
        </p:nvSpPr>
        <p:spPr>
          <a:xfrm>
            <a:off x="6096000" y="2747191"/>
            <a:ext cx="5045549" cy="3416300"/>
          </a:xfrm>
        </p:spPr>
        <p:txBody>
          <a:bodyPr/>
          <a:lstStyle/>
          <a:p>
            <a:r>
              <a:rPr lang="en-US" dirty="0"/>
              <a:t>Random Forest</a:t>
            </a:r>
          </a:p>
          <a:p>
            <a:pPr lvl="1"/>
            <a:r>
              <a:rPr lang="en-US" dirty="0"/>
              <a:t>Nonlinear ensemble model</a:t>
            </a:r>
          </a:p>
          <a:p>
            <a:pPr lvl="1"/>
            <a:r>
              <a:rPr lang="en-US" dirty="0"/>
              <a:t>Captures nonlinear relationships &amp; interactions</a:t>
            </a:r>
          </a:p>
        </p:txBody>
      </p:sp>
      <p:sp>
        <p:nvSpPr>
          <p:cNvPr id="4" name="Content Placeholder 2">
            <a:extLst>
              <a:ext uri="{FF2B5EF4-FFF2-40B4-BE49-F238E27FC236}">
                <a16:creationId xmlns:a16="http://schemas.microsoft.com/office/drawing/2014/main" id="{BE2FC36D-7CA2-4854-FFFA-96476AC2D9DC}"/>
              </a:ext>
            </a:extLst>
          </p:cNvPr>
          <p:cNvSpPr txBox="1">
            <a:spLocks/>
          </p:cNvSpPr>
          <p:nvPr/>
        </p:nvSpPr>
        <p:spPr>
          <a:xfrm>
            <a:off x="1202851" y="2747191"/>
            <a:ext cx="5045549"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dirty="0"/>
              <a:t>Logistic Regression</a:t>
            </a:r>
          </a:p>
          <a:p>
            <a:pPr lvl="1"/>
            <a:r>
              <a:rPr lang="en-US" dirty="0"/>
              <a:t>Baseline linear model</a:t>
            </a:r>
          </a:p>
          <a:p>
            <a:pPr lvl="1"/>
            <a:r>
              <a:rPr lang="en-US" dirty="0"/>
              <a:t>Interpretable baseline</a:t>
            </a:r>
          </a:p>
        </p:txBody>
      </p:sp>
    </p:spTree>
    <p:extLst>
      <p:ext uri="{BB962C8B-B14F-4D97-AF65-F5344CB8AC3E}">
        <p14:creationId xmlns:p14="http://schemas.microsoft.com/office/powerpoint/2010/main" val="385305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51EF6-16FB-1863-7F3D-236E65CEE8E6}"/>
              </a:ext>
            </a:extLst>
          </p:cNvPr>
          <p:cNvSpPr>
            <a:spLocks noGrp="1"/>
          </p:cNvSpPr>
          <p:nvPr>
            <p:ph type="title"/>
          </p:nvPr>
        </p:nvSpPr>
        <p:spPr/>
        <p:txBody>
          <a:bodyPr/>
          <a:lstStyle/>
          <a:p>
            <a:r>
              <a:rPr lang="en-US" dirty="0"/>
              <a:t>Logistic Regression Results</a:t>
            </a:r>
          </a:p>
        </p:txBody>
      </p:sp>
      <p:pic>
        <p:nvPicPr>
          <p:cNvPr id="5" name="Picture 4">
            <a:extLst>
              <a:ext uri="{FF2B5EF4-FFF2-40B4-BE49-F238E27FC236}">
                <a16:creationId xmlns:a16="http://schemas.microsoft.com/office/drawing/2014/main" id="{DA7D266B-2E64-37C0-6E20-B0A0F5AC4A29}"/>
              </a:ext>
            </a:extLst>
          </p:cNvPr>
          <p:cNvPicPr>
            <a:picLocks noChangeAspect="1"/>
          </p:cNvPicPr>
          <p:nvPr/>
        </p:nvPicPr>
        <p:blipFill>
          <a:blip r:embed="rId3"/>
          <a:stretch>
            <a:fillRect/>
          </a:stretch>
        </p:blipFill>
        <p:spPr>
          <a:xfrm>
            <a:off x="2406587" y="3429000"/>
            <a:ext cx="6322392" cy="2270473"/>
          </a:xfrm>
          <a:prstGeom prst="rect">
            <a:avLst/>
          </a:prstGeom>
        </p:spPr>
      </p:pic>
    </p:spTree>
    <p:extLst>
      <p:ext uri="{BB962C8B-B14F-4D97-AF65-F5344CB8AC3E}">
        <p14:creationId xmlns:p14="http://schemas.microsoft.com/office/powerpoint/2010/main" val="1264159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6636A-33C3-A96C-E6F1-BB64D628BC87}"/>
              </a:ext>
            </a:extLst>
          </p:cNvPr>
          <p:cNvSpPr>
            <a:spLocks noGrp="1"/>
          </p:cNvSpPr>
          <p:nvPr>
            <p:ph type="title"/>
          </p:nvPr>
        </p:nvSpPr>
        <p:spPr/>
        <p:txBody>
          <a:bodyPr/>
          <a:lstStyle/>
          <a:p>
            <a:r>
              <a:rPr lang="en-US" dirty="0"/>
              <a:t>Random Forest Results</a:t>
            </a:r>
          </a:p>
        </p:txBody>
      </p:sp>
      <p:pic>
        <p:nvPicPr>
          <p:cNvPr id="6" name="Picture 5">
            <a:extLst>
              <a:ext uri="{FF2B5EF4-FFF2-40B4-BE49-F238E27FC236}">
                <a16:creationId xmlns:a16="http://schemas.microsoft.com/office/drawing/2014/main" id="{E08610C0-5A32-8F2F-354A-907DA0A32CD9}"/>
              </a:ext>
            </a:extLst>
          </p:cNvPr>
          <p:cNvPicPr>
            <a:picLocks noChangeAspect="1"/>
          </p:cNvPicPr>
          <p:nvPr/>
        </p:nvPicPr>
        <p:blipFill>
          <a:blip r:embed="rId3"/>
          <a:stretch>
            <a:fillRect/>
          </a:stretch>
        </p:blipFill>
        <p:spPr>
          <a:xfrm>
            <a:off x="2394799" y="3429000"/>
            <a:ext cx="6345968" cy="2381960"/>
          </a:xfrm>
          <a:prstGeom prst="rect">
            <a:avLst/>
          </a:prstGeom>
        </p:spPr>
      </p:pic>
    </p:spTree>
    <p:extLst>
      <p:ext uri="{BB962C8B-B14F-4D97-AF65-F5344CB8AC3E}">
        <p14:creationId xmlns:p14="http://schemas.microsoft.com/office/powerpoint/2010/main" val="914224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2ECA7-821D-A859-4D7E-C414878A757E}"/>
              </a:ext>
            </a:extLst>
          </p:cNvPr>
          <p:cNvSpPr>
            <a:spLocks noGrp="1"/>
          </p:cNvSpPr>
          <p:nvPr>
            <p:ph type="title"/>
          </p:nvPr>
        </p:nvSpPr>
        <p:spPr/>
        <p:txBody>
          <a:bodyPr/>
          <a:lstStyle/>
          <a:p>
            <a:r>
              <a:rPr lang="en-US" dirty="0"/>
              <a:t>Modeling Classification Evaluation</a:t>
            </a:r>
          </a:p>
        </p:txBody>
      </p:sp>
      <p:sp>
        <p:nvSpPr>
          <p:cNvPr id="3" name="Content Placeholder 2">
            <a:extLst>
              <a:ext uri="{FF2B5EF4-FFF2-40B4-BE49-F238E27FC236}">
                <a16:creationId xmlns:a16="http://schemas.microsoft.com/office/drawing/2014/main" id="{049FFE98-94FF-7C8D-EDB9-88A4810F7E9D}"/>
              </a:ext>
            </a:extLst>
          </p:cNvPr>
          <p:cNvSpPr>
            <a:spLocks noGrp="1"/>
          </p:cNvSpPr>
          <p:nvPr>
            <p:ph idx="1"/>
          </p:nvPr>
        </p:nvSpPr>
        <p:spPr>
          <a:xfrm>
            <a:off x="1863571" y="3314823"/>
            <a:ext cx="1745577" cy="876534"/>
          </a:xfrm>
          <a:solidFill>
            <a:srgbClr val="00B050"/>
          </a:solidFill>
        </p:spPr>
        <p:txBody>
          <a:bodyPr>
            <a:normAutofit/>
          </a:bodyPr>
          <a:lstStyle/>
          <a:p>
            <a:pPr marL="0" indent="0">
              <a:buNone/>
            </a:pPr>
            <a:r>
              <a:rPr lang="en-US" dirty="0"/>
              <a:t>True Positive</a:t>
            </a:r>
          </a:p>
          <a:p>
            <a:pPr marL="0" indent="0">
              <a:buNone/>
            </a:pPr>
            <a:r>
              <a:rPr lang="en-US" dirty="0"/>
              <a:t>1481</a:t>
            </a:r>
          </a:p>
        </p:txBody>
      </p:sp>
      <p:sp>
        <p:nvSpPr>
          <p:cNvPr id="4" name="Content Placeholder 2">
            <a:extLst>
              <a:ext uri="{FF2B5EF4-FFF2-40B4-BE49-F238E27FC236}">
                <a16:creationId xmlns:a16="http://schemas.microsoft.com/office/drawing/2014/main" id="{30ED0168-3400-321B-909A-ADFF839DD445}"/>
              </a:ext>
            </a:extLst>
          </p:cNvPr>
          <p:cNvSpPr txBox="1">
            <a:spLocks/>
          </p:cNvSpPr>
          <p:nvPr/>
        </p:nvSpPr>
        <p:spPr>
          <a:xfrm>
            <a:off x="1863570" y="4180462"/>
            <a:ext cx="1745577" cy="876534"/>
          </a:xfrm>
          <a:prstGeom prst="rect">
            <a:avLst/>
          </a:prstGeom>
          <a:solidFill>
            <a:schemeClr val="accent2"/>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Font typeface="Wingdings 3" charset="2"/>
              <a:buNone/>
            </a:pPr>
            <a:r>
              <a:rPr lang="en-US" dirty="0"/>
              <a:t>False Positive</a:t>
            </a:r>
          </a:p>
          <a:p>
            <a:pPr marL="0" indent="0">
              <a:buFont typeface="Wingdings 3" charset="2"/>
              <a:buNone/>
            </a:pPr>
            <a:r>
              <a:rPr lang="en-US" dirty="0"/>
              <a:t>978</a:t>
            </a:r>
          </a:p>
        </p:txBody>
      </p:sp>
      <p:sp>
        <p:nvSpPr>
          <p:cNvPr id="5" name="Content Placeholder 2">
            <a:extLst>
              <a:ext uri="{FF2B5EF4-FFF2-40B4-BE49-F238E27FC236}">
                <a16:creationId xmlns:a16="http://schemas.microsoft.com/office/drawing/2014/main" id="{929FFA55-EAD8-EB0A-AD63-C3C4A1DECF43}"/>
              </a:ext>
            </a:extLst>
          </p:cNvPr>
          <p:cNvSpPr txBox="1">
            <a:spLocks/>
          </p:cNvSpPr>
          <p:nvPr/>
        </p:nvSpPr>
        <p:spPr>
          <a:xfrm>
            <a:off x="3540525" y="3314823"/>
            <a:ext cx="1745578" cy="876534"/>
          </a:xfrm>
          <a:prstGeom prst="rect">
            <a:avLst/>
          </a:prstGeom>
          <a:solidFill>
            <a:schemeClr val="accent2"/>
          </a:solidFill>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Font typeface="Wingdings 3" charset="2"/>
              <a:buNone/>
            </a:pPr>
            <a:r>
              <a:rPr lang="en-US" dirty="0"/>
              <a:t>False Negative</a:t>
            </a:r>
          </a:p>
          <a:p>
            <a:pPr marL="0" indent="0">
              <a:buFont typeface="Wingdings 3" charset="2"/>
              <a:buNone/>
            </a:pPr>
            <a:r>
              <a:rPr lang="en-US" dirty="0"/>
              <a:t>1535</a:t>
            </a:r>
          </a:p>
        </p:txBody>
      </p:sp>
      <p:sp>
        <p:nvSpPr>
          <p:cNvPr id="6" name="Content Placeholder 2">
            <a:extLst>
              <a:ext uri="{FF2B5EF4-FFF2-40B4-BE49-F238E27FC236}">
                <a16:creationId xmlns:a16="http://schemas.microsoft.com/office/drawing/2014/main" id="{42A1C506-3207-23A0-E2AA-A77D20EC914F}"/>
              </a:ext>
            </a:extLst>
          </p:cNvPr>
          <p:cNvSpPr txBox="1">
            <a:spLocks/>
          </p:cNvSpPr>
          <p:nvPr/>
        </p:nvSpPr>
        <p:spPr>
          <a:xfrm>
            <a:off x="3540524" y="4182997"/>
            <a:ext cx="1745576" cy="876534"/>
          </a:xfrm>
          <a:prstGeom prst="rect">
            <a:avLst/>
          </a:prstGeom>
          <a:solidFill>
            <a:srgbClr val="00B050"/>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Font typeface="Wingdings 3" charset="2"/>
              <a:buNone/>
            </a:pPr>
            <a:r>
              <a:rPr lang="en-US" dirty="0"/>
              <a:t>True Negative</a:t>
            </a:r>
          </a:p>
          <a:p>
            <a:pPr marL="0" indent="0">
              <a:buFont typeface="Wingdings 3" charset="2"/>
              <a:buNone/>
            </a:pPr>
            <a:r>
              <a:rPr lang="en-US" dirty="0"/>
              <a:t>1006</a:t>
            </a:r>
          </a:p>
        </p:txBody>
      </p:sp>
      <p:sp>
        <p:nvSpPr>
          <p:cNvPr id="7" name="Content Placeholder 2">
            <a:extLst>
              <a:ext uri="{FF2B5EF4-FFF2-40B4-BE49-F238E27FC236}">
                <a16:creationId xmlns:a16="http://schemas.microsoft.com/office/drawing/2014/main" id="{A9A0D593-1E71-0711-065F-ED6BD26C588D}"/>
              </a:ext>
            </a:extLst>
          </p:cNvPr>
          <p:cNvSpPr txBox="1">
            <a:spLocks/>
          </p:cNvSpPr>
          <p:nvPr/>
        </p:nvSpPr>
        <p:spPr>
          <a:xfrm>
            <a:off x="8582851" y="4177171"/>
            <a:ext cx="1745575" cy="876534"/>
          </a:xfrm>
          <a:prstGeom prst="rect">
            <a:avLst/>
          </a:prstGeom>
          <a:solidFill>
            <a:srgbClr val="00B050"/>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r>
              <a:rPr lang="en-US" dirty="0"/>
              <a:t>True Negative</a:t>
            </a:r>
          </a:p>
          <a:p>
            <a:pPr marL="0" indent="0">
              <a:buFont typeface="Wingdings 3" charset="2"/>
              <a:buNone/>
            </a:pPr>
            <a:r>
              <a:rPr lang="en-US" dirty="0"/>
              <a:t>1291</a:t>
            </a:r>
          </a:p>
        </p:txBody>
      </p:sp>
      <p:sp>
        <p:nvSpPr>
          <p:cNvPr id="8" name="Content Placeholder 2">
            <a:extLst>
              <a:ext uri="{FF2B5EF4-FFF2-40B4-BE49-F238E27FC236}">
                <a16:creationId xmlns:a16="http://schemas.microsoft.com/office/drawing/2014/main" id="{4537A3A5-A22A-ECBA-F9DF-477D3351D726}"/>
              </a:ext>
            </a:extLst>
          </p:cNvPr>
          <p:cNvSpPr txBox="1">
            <a:spLocks/>
          </p:cNvSpPr>
          <p:nvPr/>
        </p:nvSpPr>
        <p:spPr>
          <a:xfrm>
            <a:off x="6905901" y="4174288"/>
            <a:ext cx="1745574" cy="876534"/>
          </a:xfrm>
          <a:prstGeom prst="rect">
            <a:avLst/>
          </a:prstGeom>
          <a:solidFill>
            <a:schemeClr val="accent2"/>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r>
              <a:rPr lang="en-US" dirty="0"/>
              <a:t>False Positive</a:t>
            </a:r>
          </a:p>
          <a:p>
            <a:pPr marL="0" indent="0">
              <a:buFont typeface="Wingdings 3" charset="2"/>
              <a:buNone/>
            </a:pPr>
            <a:r>
              <a:rPr lang="en-US" dirty="0"/>
              <a:t>693</a:t>
            </a:r>
          </a:p>
        </p:txBody>
      </p:sp>
      <p:sp>
        <p:nvSpPr>
          <p:cNvPr id="9" name="Content Placeholder 2">
            <a:extLst>
              <a:ext uri="{FF2B5EF4-FFF2-40B4-BE49-F238E27FC236}">
                <a16:creationId xmlns:a16="http://schemas.microsoft.com/office/drawing/2014/main" id="{350A61BD-3616-83BF-E4B1-5FAF1872BA15}"/>
              </a:ext>
            </a:extLst>
          </p:cNvPr>
          <p:cNvSpPr txBox="1">
            <a:spLocks/>
          </p:cNvSpPr>
          <p:nvPr/>
        </p:nvSpPr>
        <p:spPr>
          <a:xfrm>
            <a:off x="8582852" y="3314823"/>
            <a:ext cx="1745577" cy="876534"/>
          </a:xfrm>
          <a:prstGeom prst="rect">
            <a:avLst/>
          </a:prstGeom>
          <a:solidFill>
            <a:schemeClr val="accent2"/>
          </a:solidFill>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r>
              <a:rPr lang="en-US" dirty="0"/>
              <a:t>False Negative</a:t>
            </a:r>
          </a:p>
          <a:p>
            <a:pPr marL="0" indent="0">
              <a:buFont typeface="Wingdings 3" charset="2"/>
              <a:buNone/>
            </a:pPr>
            <a:r>
              <a:rPr lang="en-US" dirty="0"/>
              <a:t>820</a:t>
            </a:r>
          </a:p>
        </p:txBody>
      </p:sp>
      <p:sp>
        <p:nvSpPr>
          <p:cNvPr id="10" name="Content Placeholder 2">
            <a:extLst>
              <a:ext uri="{FF2B5EF4-FFF2-40B4-BE49-F238E27FC236}">
                <a16:creationId xmlns:a16="http://schemas.microsoft.com/office/drawing/2014/main" id="{911FAF6D-D751-70A7-5352-4BC042969B04}"/>
              </a:ext>
            </a:extLst>
          </p:cNvPr>
          <p:cNvSpPr txBox="1">
            <a:spLocks/>
          </p:cNvSpPr>
          <p:nvPr/>
        </p:nvSpPr>
        <p:spPr>
          <a:xfrm>
            <a:off x="6905899" y="3314823"/>
            <a:ext cx="1745576" cy="876534"/>
          </a:xfrm>
          <a:prstGeom prst="rect">
            <a:avLst/>
          </a:prstGeom>
          <a:solidFill>
            <a:srgbClr val="00B050"/>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Font typeface="Wingdings 3" charset="2"/>
              <a:buNone/>
            </a:pPr>
            <a:r>
              <a:rPr lang="en-US" dirty="0"/>
              <a:t>True Positive</a:t>
            </a:r>
          </a:p>
          <a:p>
            <a:pPr marL="0" indent="0">
              <a:buFont typeface="Wingdings 3" charset="2"/>
              <a:buNone/>
            </a:pPr>
            <a:r>
              <a:rPr lang="en-US" dirty="0"/>
              <a:t>2196</a:t>
            </a:r>
          </a:p>
        </p:txBody>
      </p:sp>
      <p:sp>
        <p:nvSpPr>
          <p:cNvPr id="12" name="TextBox 11">
            <a:extLst>
              <a:ext uri="{FF2B5EF4-FFF2-40B4-BE49-F238E27FC236}">
                <a16:creationId xmlns:a16="http://schemas.microsoft.com/office/drawing/2014/main" id="{1BC1B230-E405-6F62-6EB1-53A0D7BBDBF1}"/>
              </a:ext>
            </a:extLst>
          </p:cNvPr>
          <p:cNvSpPr txBox="1"/>
          <p:nvPr/>
        </p:nvSpPr>
        <p:spPr>
          <a:xfrm>
            <a:off x="7629019" y="2789692"/>
            <a:ext cx="1907664" cy="369332"/>
          </a:xfrm>
          <a:prstGeom prst="rect">
            <a:avLst/>
          </a:prstGeom>
          <a:noFill/>
        </p:spPr>
        <p:txBody>
          <a:bodyPr wrap="square" rtlCol="0">
            <a:spAutoFit/>
          </a:bodyPr>
          <a:lstStyle/>
          <a:p>
            <a:r>
              <a:rPr lang="en-US" dirty="0"/>
              <a:t>Random Forest</a:t>
            </a:r>
          </a:p>
        </p:txBody>
      </p:sp>
      <p:sp>
        <p:nvSpPr>
          <p:cNvPr id="13" name="TextBox 12">
            <a:extLst>
              <a:ext uri="{FF2B5EF4-FFF2-40B4-BE49-F238E27FC236}">
                <a16:creationId xmlns:a16="http://schemas.microsoft.com/office/drawing/2014/main" id="{8C8421FD-34E9-925A-242D-6C15AA40FE21}"/>
              </a:ext>
            </a:extLst>
          </p:cNvPr>
          <p:cNvSpPr txBox="1"/>
          <p:nvPr/>
        </p:nvSpPr>
        <p:spPr>
          <a:xfrm>
            <a:off x="2413008" y="2766446"/>
            <a:ext cx="2255031" cy="369332"/>
          </a:xfrm>
          <a:prstGeom prst="rect">
            <a:avLst/>
          </a:prstGeom>
          <a:noFill/>
        </p:spPr>
        <p:txBody>
          <a:bodyPr wrap="square" rtlCol="0">
            <a:spAutoFit/>
          </a:bodyPr>
          <a:lstStyle/>
          <a:p>
            <a:r>
              <a:rPr lang="en-US" dirty="0"/>
              <a:t>Logistic Regression</a:t>
            </a:r>
          </a:p>
        </p:txBody>
      </p:sp>
    </p:spTree>
    <p:extLst>
      <p:ext uri="{BB962C8B-B14F-4D97-AF65-F5344CB8AC3E}">
        <p14:creationId xmlns:p14="http://schemas.microsoft.com/office/powerpoint/2010/main" val="516445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F3A3-1856-B676-0ACB-30F5F2B6DB68}"/>
              </a:ext>
            </a:extLst>
          </p:cNvPr>
          <p:cNvSpPr>
            <a:spLocks noGrp="1"/>
          </p:cNvSpPr>
          <p:nvPr>
            <p:ph type="title"/>
          </p:nvPr>
        </p:nvSpPr>
        <p:spPr/>
        <p:txBody>
          <a:bodyPr/>
          <a:lstStyle/>
          <a:p>
            <a:r>
              <a:rPr lang="en-US" dirty="0"/>
              <a:t>ROC Curve</a:t>
            </a:r>
          </a:p>
        </p:txBody>
      </p:sp>
      <p:sp>
        <p:nvSpPr>
          <p:cNvPr id="3" name="Content Placeholder 2">
            <a:extLst>
              <a:ext uri="{FF2B5EF4-FFF2-40B4-BE49-F238E27FC236}">
                <a16:creationId xmlns:a16="http://schemas.microsoft.com/office/drawing/2014/main" id="{BE6BEC81-22BB-759D-39B3-C47695417F8F}"/>
              </a:ext>
            </a:extLst>
          </p:cNvPr>
          <p:cNvSpPr>
            <a:spLocks noGrp="1"/>
          </p:cNvSpPr>
          <p:nvPr>
            <p:ph idx="1"/>
          </p:nvPr>
        </p:nvSpPr>
        <p:spPr>
          <a:xfrm>
            <a:off x="1912602" y="2577375"/>
            <a:ext cx="2615857" cy="383540"/>
          </a:xfrm>
        </p:spPr>
        <p:txBody>
          <a:bodyPr/>
          <a:lstStyle/>
          <a:p>
            <a:r>
              <a:rPr lang="en-US" dirty="0"/>
              <a:t>Logistic Regression</a:t>
            </a:r>
          </a:p>
        </p:txBody>
      </p:sp>
      <p:sp>
        <p:nvSpPr>
          <p:cNvPr id="4" name="Content Placeholder 2">
            <a:extLst>
              <a:ext uri="{FF2B5EF4-FFF2-40B4-BE49-F238E27FC236}">
                <a16:creationId xmlns:a16="http://schemas.microsoft.com/office/drawing/2014/main" id="{30D26037-075E-73C6-6F5A-BB13B7247996}"/>
              </a:ext>
            </a:extLst>
          </p:cNvPr>
          <p:cNvSpPr txBox="1">
            <a:spLocks/>
          </p:cNvSpPr>
          <p:nvPr/>
        </p:nvSpPr>
        <p:spPr>
          <a:xfrm>
            <a:off x="6853648" y="2577375"/>
            <a:ext cx="2615857" cy="38354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dirty="0"/>
              <a:t>Random Forest</a:t>
            </a:r>
          </a:p>
        </p:txBody>
      </p:sp>
      <p:pic>
        <p:nvPicPr>
          <p:cNvPr id="6" name="Picture 5">
            <a:extLst>
              <a:ext uri="{FF2B5EF4-FFF2-40B4-BE49-F238E27FC236}">
                <a16:creationId xmlns:a16="http://schemas.microsoft.com/office/drawing/2014/main" id="{D671E1CB-EBFB-482C-FF38-54CB911234F9}"/>
              </a:ext>
            </a:extLst>
          </p:cNvPr>
          <p:cNvPicPr>
            <a:picLocks noChangeAspect="1"/>
          </p:cNvPicPr>
          <p:nvPr/>
        </p:nvPicPr>
        <p:blipFill>
          <a:blip r:embed="rId3"/>
          <a:stretch>
            <a:fillRect/>
          </a:stretch>
        </p:blipFill>
        <p:spPr>
          <a:xfrm>
            <a:off x="1912602" y="2960915"/>
            <a:ext cx="3587932" cy="3474718"/>
          </a:xfrm>
          <a:prstGeom prst="rect">
            <a:avLst/>
          </a:prstGeom>
        </p:spPr>
      </p:pic>
      <p:pic>
        <p:nvPicPr>
          <p:cNvPr id="8" name="Picture 7">
            <a:extLst>
              <a:ext uri="{FF2B5EF4-FFF2-40B4-BE49-F238E27FC236}">
                <a16:creationId xmlns:a16="http://schemas.microsoft.com/office/drawing/2014/main" id="{7C49AD13-2CC5-88F9-B474-CE1246845EF2}"/>
              </a:ext>
            </a:extLst>
          </p:cNvPr>
          <p:cNvPicPr>
            <a:picLocks noChangeAspect="1"/>
          </p:cNvPicPr>
          <p:nvPr/>
        </p:nvPicPr>
        <p:blipFill>
          <a:blip r:embed="rId4"/>
          <a:stretch>
            <a:fillRect/>
          </a:stretch>
        </p:blipFill>
        <p:spPr>
          <a:xfrm>
            <a:off x="6853648" y="2960915"/>
            <a:ext cx="3535679" cy="3474718"/>
          </a:xfrm>
          <a:prstGeom prst="rect">
            <a:avLst/>
          </a:prstGeom>
        </p:spPr>
      </p:pic>
    </p:spTree>
    <p:extLst>
      <p:ext uri="{BB962C8B-B14F-4D97-AF65-F5344CB8AC3E}">
        <p14:creationId xmlns:p14="http://schemas.microsoft.com/office/powerpoint/2010/main" val="3567773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DBEA-E75C-D11D-1CB7-B02B0ABC13BC}"/>
              </a:ext>
            </a:extLst>
          </p:cNvPr>
          <p:cNvSpPr>
            <a:spLocks noGrp="1"/>
          </p:cNvSpPr>
          <p:nvPr>
            <p:ph type="title"/>
          </p:nvPr>
        </p:nvSpPr>
        <p:spPr/>
        <p:txBody>
          <a:bodyPr/>
          <a:lstStyle/>
          <a:p>
            <a:r>
              <a:rPr lang="en-US" dirty="0"/>
              <a:t>Identified Key Features</a:t>
            </a:r>
          </a:p>
        </p:txBody>
      </p:sp>
      <p:pic>
        <p:nvPicPr>
          <p:cNvPr id="5" name="Picture 4">
            <a:extLst>
              <a:ext uri="{FF2B5EF4-FFF2-40B4-BE49-F238E27FC236}">
                <a16:creationId xmlns:a16="http://schemas.microsoft.com/office/drawing/2014/main" id="{F536CC03-EA05-8FC6-8F09-6F649D47F213}"/>
              </a:ext>
            </a:extLst>
          </p:cNvPr>
          <p:cNvPicPr>
            <a:picLocks noChangeAspect="1"/>
          </p:cNvPicPr>
          <p:nvPr/>
        </p:nvPicPr>
        <p:blipFill>
          <a:blip r:embed="rId3"/>
          <a:stretch>
            <a:fillRect/>
          </a:stretch>
        </p:blipFill>
        <p:spPr>
          <a:xfrm>
            <a:off x="4450483" y="2934794"/>
            <a:ext cx="3027041" cy="2812864"/>
          </a:xfrm>
          <a:prstGeom prst="rect">
            <a:avLst/>
          </a:prstGeom>
        </p:spPr>
      </p:pic>
    </p:spTree>
    <p:extLst>
      <p:ext uri="{BB962C8B-B14F-4D97-AF65-F5344CB8AC3E}">
        <p14:creationId xmlns:p14="http://schemas.microsoft.com/office/powerpoint/2010/main" val="2331255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1123C-D69D-82EE-C4B2-D4822A0E5BE8}"/>
              </a:ext>
            </a:extLst>
          </p:cNvPr>
          <p:cNvSpPr>
            <a:spLocks noGrp="1"/>
          </p:cNvSpPr>
          <p:nvPr>
            <p:ph type="title"/>
          </p:nvPr>
        </p:nvSpPr>
        <p:spPr/>
        <p:txBody>
          <a:bodyPr/>
          <a:lstStyle/>
          <a:p>
            <a:r>
              <a:rPr lang="en-US" dirty="0"/>
              <a:t>Threshold Tuning: Why It Matters</a:t>
            </a:r>
          </a:p>
        </p:txBody>
      </p:sp>
      <p:sp>
        <p:nvSpPr>
          <p:cNvPr id="3" name="Content Placeholder 2">
            <a:extLst>
              <a:ext uri="{FF2B5EF4-FFF2-40B4-BE49-F238E27FC236}">
                <a16:creationId xmlns:a16="http://schemas.microsoft.com/office/drawing/2014/main" id="{8762679A-65FC-D982-DA78-66F8B1017F87}"/>
              </a:ext>
            </a:extLst>
          </p:cNvPr>
          <p:cNvSpPr>
            <a:spLocks noGrp="1"/>
          </p:cNvSpPr>
          <p:nvPr>
            <p:ph idx="1"/>
          </p:nvPr>
        </p:nvSpPr>
        <p:spPr>
          <a:xfrm>
            <a:off x="1683170" y="2803797"/>
            <a:ext cx="8825659" cy="3080534"/>
          </a:xfrm>
        </p:spPr>
        <p:txBody>
          <a:bodyPr>
            <a:normAutofit/>
          </a:bodyPr>
          <a:lstStyle/>
          <a:p>
            <a:r>
              <a:rPr lang="en-US" sz="2400" dirty="0"/>
              <a:t>Default Threshold = .50</a:t>
            </a:r>
          </a:p>
          <a:p>
            <a:endParaRPr lang="en-US" sz="2400" dirty="0"/>
          </a:p>
          <a:p>
            <a:r>
              <a:rPr lang="en-US" sz="2400" dirty="0"/>
              <a:t>Early warning prioritizing recall</a:t>
            </a:r>
          </a:p>
          <a:p>
            <a:endParaRPr lang="en-US" sz="2400" dirty="0"/>
          </a:p>
          <a:p>
            <a:r>
              <a:rPr lang="en-US" sz="2400" dirty="0"/>
              <a:t>Threshold selection impacts intervention volume and can refine operational goals</a:t>
            </a:r>
          </a:p>
        </p:txBody>
      </p:sp>
    </p:spTree>
    <p:extLst>
      <p:ext uri="{BB962C8B-B14F-4D97-AF65-F5344CB8AC3E}">
        <p14:creationId xmlns:p14="http://schemas.microsoft.com/office/powerpoint/2010/main" val="1976622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B103A-11B6-6EBE-F3EB-D95706885A0F}"/>
              </a:ext>
            </a:extLst>
          </p:cNvPr>
          <p:cNvSpPr>
            <a:spLocks noGrp="1"/>
          </p:cNvSpPr>
          <p:nvPr>
            <p:ph type="title"/>
          </p:nvPr>
        </p:nvSpPr>
        <p:spPr/>
        <p:txBody>
          <a:bodyPr/>
          <a:lstStyle/>
          <a:p>
            <a:r>
              <a:rPr lang="en-US" dirty="0"/>
              <a:t>Threshold Tradeoff Results</a:t>
            </a:r>
          </a:p>
        </p:txBody>
      </p:sp>
      <p:sp>
        <p:nvSpPr>
          <p:cNvPr id="3" name="Content Placeholder 2">
            <a:extLst>
              <a:ext uri="{FF2B5EF4-FFF2-40B4-BE49-F238E27FC236}">
                <a16:creationId xmlns:a16="http://schemas.microsoft.com/office/drawing/2014/main" id="{AC0F9385-BA00-9DFB-8E12-13BE0F32C6D6}"/>
              </a:ext>
            </a:extLst>
          </p:cNvPr>
          <p:cNvSpPr>
            <a:spLocks noGrp="1"/>
          </p:cNvSpPr>
          <p:nvPr>
            <p:ph idx="1"/>
          </p:nvPr>
        </p:nvSpPr>
        <p:spPr>
          <a:xfrm>
            <a:off x="1154954" y="2603500"/>
            <a:ext cx="3277709" cy="383540"/>
          </a:xfrm>
        </p:spPr>
        <p:txBody>
          <a:bodyPr>
            <a:normAutofit/>
          </a:bodyPr>
          <a:lstStyle/>
          <a:p>
            <a:r>
              <a:rPr lang="en-US" dirty="0"/>
              <a:t>Recall vs Precision Curve</a:t>
            </a:r>
          </a:p>
          <a:p>
            <a:endParaRPr lang="en-US" dirty="0"/>
          </a:p>
          <a:p>
            <a:endParaRPr lang="en-US" dirty="0"/>
          </a:p>
          <a:p>
            <a:endParaRPr lang="en-US" dirty="0"/>
          </a:p>
          <a:p>
            <a:endParaRPr lang="en-US" dirty="0"/>
          </a:p>
        </p:txBody>
      </p:sp>
      <p:sp>
        <p:nvSpPr>
          <p:cNvPr id="4" name="Content Placeholder 2">
            <a:extLst>
              <a:ext uri="{FF2B5EF4-FFF2-40B4-BE49-F238E27FC236}">
                <a16:creationId xmlns:a16="http://schemas.microsoft.com/office/drawing/2014/main" id="{87375D95-9883-4008-ED5E-4B012DA2C216}"/>
              </a:ext>
            </a:extLst>
          </p:cNvPr>
          <p:cNvSpPr txBox="1">
            <a:spLocks/>
          </p:cNvSpPr>
          <p:nvPr/>
        </p:nvSpPr>
        <p:spPr>
          <a:xfrm>
            <a:off x="6096000" y="2603500"/>
            <a:ext cx="4562222" cy="38354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dirty="0"/>
              <a:t>Students Flagged vs Threshold</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9099C898-0E91-CAE4-2485-DC5A455988C8}"/>
              </a:ext>
            </a:extLst>
          </p:cNvPr>
          <p:cNvPicPr>
            <a:picLocks noChangeAspect="1"/>
          </p:cNvPicPr>
          <p:nvPr/>
        </p:nvPicPr>
        <p:blipFill>
          <a:blip r:embed="rId3"/>
          <a:stretch>
            <a:fillRect/>
          </a:stretch>
        </p:blipFill>
        <p:spPr>
          <a:xfrm>
            <a:off x="1154954" y="3100252"/>
            <a:ext cx="4597885" cy="3544389"/>
          </a:xfrm>
          <a:prstGeom prst="rect">
            <a:avLst/>
          </a:prstGeom>
        </p:spPr>
      </p:pic>
      <p:pic>
        <p:nvPicPr>
          <p:cNvPr id="8" name="Picture 7">
            <a:extLst>
              <a:ext uri="{FF2B5EF4-FFF2-40B4-BE49-F238E27FC236}">
                <a16:creationId xmlns:a16="http://schemas.microsoft.com/office/drawing/2014/main" id="{2F693598-3B8D-D853-15B7-BAD9CD18E91B}"/>
              </a:ext>
            </a:extLst>
          </p:cNvPr>
          <p:cNvPicPr>
            <a:picLocks noChangeAspect="1"/>
          </p:cNvPicPr>
          <p:nvPr/>
        </p:nvPicPr>
        <p:blipFill>
          <a:blip r:embed="rId4"/>
          <a:stretch>
            <a:fillRect/>
          </a:stretch>
        </p:blipFill>
        <p:spPr>
          <a:xfrm>
            <a:off x="6096000" y="3033178"/>
            <a:ext cx="4941046" cy="3678536"/>
          </a:xfrm>
          <a:prstGeom prst="rect">
            <a:avLst/>
          </a:prstGeom>
        </p:spPr>
      </p:pic>
    </p:spTree>
    <p:extLst>
      <p:ext uri="{BB962C8B-B14F-4D97-AF65-F5344CB8AC3E}">
        <p14:creationId xmlns:p14="http://schemas.microsoft.com/office/powerpoint/2010/main" val="218859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144AC-C5CA-4FAD-675C-8B7CE109A32D}"/>
              </a:ext>
            </a:extLst>
          </p:cNvPr>
          <p:cNvSpPr>
            <a:spLocks noGrp="1"/>
          </p:cNvSpPr>
          <p:nvPr>
            <p:ph type="title"/>
          </p:nvPr>
        </p:nvSpPr>
        <p:spPr/>
        <p:txBody>
          <a:bodyPr/>
          <a:lstStyle/>
          <a:p>
            <a:r>
              <a:rPr lang="en-US" dirty="0"/>
              <a:t>Operational Simulation</a:t>
            </a:r>
          </a:p>
        </p:txBody>
      </p:sp>
      <p:graphicFrame>
        <p:nvGraphicFramePr>
          <p:cNvPr id="4" name="Table 3">
            <a:extLst>
              <a:ext uri="{FF2B5EF4-FFF2-40B4-BE49-F238E27FC236}">
                <a16:creationId xmlns:a16="http://schemas.microsoft.com/office/drawing/2014/main" id="{FB9CEAE9-257A-3766-831A-19AB7137B1CB}"/>
              </a:ext>
            </a:extLst>
          </p:cNvPr>
          <p:cNvGraphicFramePr>
            <a:graphicFrameLocks noGrp="1"/>
          </p:cNvGraphicFramePr>
          <p:nvPr>
            <p:extLst>
              <p:ext uri="{D42A27DB-BD31-4B8C-83A1-F6EECF244321}">
                <p14:modId xmlns:p14="http://schemas.microsoft.com/office/powerpoint/2010/main" val="2961734238"/>
              </p:ext>
            </p:extLst>
          </p:nvPr>
        </p:nvGraphicFramePr>
        <p:xfrm>
          <a:off x="1658120" y="2688097"/>
          <a:ext cx="8322493" cy="3103103"/>
        </p:xfrm>
        <a:graphic>
          <a:graphicData uri="http://schemas.openxmlformats.org/drawingml/2006/table">
            <a:tbl>
              <a:tblPr firstRow="1" bandRow="1">
                <a:tableStyleId>{5C22544A-7EE6-4342-B048-85BDC9FD1C3A}</a:tableStyleId>
              </a:tblPr>
              <a:tblGrid>
                <a:gridCol w="2164943">
                  <a:extLst>
                    <a:ext uri="{9D8B030D-6E8A-4147-A177-3AD203B41FA5}">
                      <a16:colId xmlns:a16="http://schemas.microsoft.com/office/drawing/2014/main" val="1555605767"/>
                    </a:ext>
                  </a:extLst>
                </a:gridCol>
                <a:gridCol w="2142897">
                  <a:extLst>
                    <a:ext uri="{9D8B030D-6E8A-4147-A177-3AD203B41FA5}">
                      <a16:colId xmlns:a16="http://schemas.microsoft.com/office/drawing/2014/main" val="1358823237"/>
                    </a:ext>
                  </a:extLst>
                </a:gridCol>
                <a:gridCol w="2029097">
                  <a:extLst>
                    <a:ext uri="{9D8B030D-6E8A-4147-A177-3AD203B41FA5}">
                      <a16:colId xmlns:a16="http://schemas.microsoft.com/office/drawing/2014/main" val="3915933251"/>
                    </a:ext>
                  </a:extLst>
                </a:gridCol>
                <a:gridCol w="1985556">
                  <a:extLst>
                    <a:ext uri="{9D8B030D-6E8A-4147-A177-3AD203B41FA5}">
                      <a16:colId xmlns:a16="http://schemas.microsoft.com/office/drawing/2014/main" val="815559411"/>
                    </a:ext>
                  </a:extLst>
                </a:gridCol>
              </a:tblGrid>
              <a:tr h="379714">
                <a:tc>
                  <a:txBody>
                    <a:bodyPr/>
                    <a:lstStyle/>
                    <a:p>
                      <a:endParaRPr lang="en-US" sz="1800" dirty="0"/>
                    </a:p>
                  </a:txBody>
                  <a:tcPr marL="93628" marR="93628" marT="46814" marB="46814"/>
                </a:tc>
                <a:tc>
                  <a:txBody>
                    <a:bodyPr/>
                    <a:lstStyle/>
                    <a:p>
                      <a:r>
                        <a:rPr lang="en-US" sz="1800" dirty="0"/>
                        <a:t>Early Warning Focus</a:t>
                      </a:r>
                    </a:p>
                  </a:txBody>
                  <a:tcPr marL="93628" marR="93628" marT="46814" marB="46814"/>
                </a:tc>
                <a:tc>
                  <a:txBody>
                    <a:bodyPr/>
                    <a:lstStyle/>
                    <a:p>
                      <a:r>
                        <a:rPr lang="en-US" sz="1800" dirty="0"/>
                        <a:t>Balanced Performance</a:t>
                      </a:r>
                    </a:p>
                  </a:txBody>
                  <a:tcPr marL="93628" marR="93628" marT="46814" marB="46814"/>
                </a:tc>
                <a:tc>
                  <a:txBody>
                    <a:bodyPr/>
                    <a:lstStyle/>
                    <a:p>
                      <a:r>
                        <a:rPr lang="en-US" sz="1800" dirty="0"/>
                        <a:t>Efficiency Focus</a:t>
                      </a:r>
                    </a:p>
                  </a:txBody>
                  <a:tcPr marL="93628" marR="93628" marT="46814" marB="46814"/>
                </a:tc>
                <a:extLst>
                  <a:ext uri="{0D108BD9-81ED-4DB2-BD59-A6C34878D82A}">
                    <a16:rowId xmlns:a16="http://schemas.microsoft.com/office/drawing/2014/main" val="3906767665"/>
                  </a:ext>
                </a:extLst>
              </a:tr>
              <a:tr h="379714">
                <a:tc>
                  <a:txBody>
                    <a:bodyPr/>
                    <a:lstStyle/>
                    <a:p>
                      <a:r>
                        <a:rPr lang="en-US" sz="1800" dirty="0"/>
                        <a:t>Threshold</a:t>
                      </a:r>
                    </a:p>
                  </a:txBody>
                  <a:tcPr marL="93628" marR="93628" marT="46814" marB="46814"/>
                </a:tc>
                <a:tc>
                  <a:txBody>
                    <a:bodyPr/>
                    <a:lstStyle/>
                    <a:p>
                      <a:r>
                        <a:rPr lang="en-US" sz="1800" dirty="0"/>
                        <a:t>5%</a:t>
                      </a:r>
                    </a:p>
                  </a:txBody>
                  <a:tcPr marL="93628" marR="93628" marT="46814" marB="46814"/>
                </a:tc>
                <a:tc>
                  <a:txBody>
                    <a:bodyPr/>
                    <a:lstStyle/>
                    <a:p>
                      <a:r>
                        <a:rPr lang="en-US" sz="1800" dirty="0"/>
                        <a:t>34.4%</a:t>
                      </a:r>
                    </a:p>
                  </a:txBody>
                  <a:tcPr marL="93628" marR="93628" marT="46814" marB="46814"/>
                </a:tc>
                <a:tc>
                  <a:txBody>
                    <a:bodyPr/>
                    <a:lstStyle/>
                    <a:p>
                      <a:r>
                        <a:rPr lang="en-US" sz="1800" dirty="0"/>
                        <a:t>36.2%</a:t>
                      </a:r>
                    </a:p>
                  </a:txBody>
                  <a:tcPr marL="93628" marR="93628" marT="46814" marB="46814"/>
                </a:tc>
                <a:extLst>
                  <a:ext uri="{0D108BD9-81ED-4DB2-BD59-A6C34878D82A}">
                    <a16:rowId xmlns:a16="http://schemas.microsoft.com/office/drawing/2014/main" val="2624740129"/>
                  </a:ext>
                </a:extLst>
              </a:tr>
              <a:tr h="379714">
                <a:tc>
                  <a:txBody>
                    <a:bodyPr/>
                    <a:lstStyle/>
                    <a:p>
                      <a:r>
                        <a:rPr lang="en-US" sz="1800" dirty="0"/>
                        <a:t>Accuracy</a:t>
                      </a:r>
                    </a:p>
                  </a:txBody>
                  <a:tcPr marL="93628" marR="93628" marT="46814" marB="46814"/>
                </a:tc>
                <a:tc>
                  <a:txBody>
                    <a:bodyPr/>
                    <a:lstStyle/>
                    <a:p>
                      <a:r>
                        <a:rPr lang="en-US" sz="1800" dirty="0"/>
                        <a:t>53.8</a:t>
                      </a:r>
                    </a:p>
                  </a:txBody>
                  <a:tcPr marL="93628" marR="93628" marT="46814" marB="46814"/>
                </a:tc>
                <a:tc>
                  <a:txBody>
                    <a:bodyPr/>
                    <a:lstStyle/>
                    <a:p>
                      <a:r>
                        <a:rPr lang="en-US" sz="1800" dirty="0"/>
                        <a:t>67.1</a:t>
                      </a:r>
                    </a:p>
                  </a:txBody>
                  <a:tcPr marL="93628" marR="93628" marT="46814" marB="46814"/>
                </a:tc>
                <a:tc>
                  <a:txBody>
                    <a:bodyPr/>
                    <a:lstStyle/>
                    <a:p>
                      <a:r>
                        <a:rPr lang="en-US" sz="1800" dirty="0"/>
                        <a:t>67.4</a:t>
                      </a:r>
                    </a:p>
                  </a:txBody>
                  <a:tcPr marL="93628" marR="93628" marT="46814" marB="46814"/>
                </a:tc>
                <a:extLst>
                  <a:ext uri="{0D108BD9-81ED-4DB2-BD59-A6C34878D82A}">
                    <a16:rowId xmlns:a16="http://schemas.microsoft.com/office/drawing/2014/main" val="2936663175"/>
                  </a:ext>
                </a:extLst>
              </a:tr>
              <a:tr h="379714">
                <a:tc>
                  <a:txBody>
                    <a:bodyPr/>
                    <a:lstStyle/>
                    <a:p>
                      <a:r>
                        <a:rPr lang="en-US" sz="1800" dirty="0"/>
                        <a:t>Precision</a:t>
                      </a:r>
                    </a:p>
                  </a:txBody>
                  <a:tcPr marL="93628" marR="93628" marT="46814" marB="46814"/>
                </a:tc>
                <a:tc>
                  <a:txBody>
                    <a:bodyPr/>
                    <a:lstStyle/>
                    <a:p>
                      <a:r>
                        <a:rPr lang="en-US" sz="1800" dirty="0"/>
                        <a:t>45.9</a:t>
                      </a:r>
                    </a:p>
                  </a:txBody>
                  <a:tcPr marL="93628" marR="93628" marT="46814" marB="46814"/>
                </a:tc>
                <a:tc>
                  <a:txBody>
                    <a:bodyPr/>
                    <a:lstStyle/>
                    <a:p>
                      <a:r>
                        <a:rPr lang="en-US" sz="1800" dirty="0"/>
                        <a:t>56.2</a:t>
                      </a:r>
                    </a:p>
                  </a:txBody>
                  <a:tcPr marL="93628" marR="93628" marT="46814" marB="46814"/>
                </a:tc>
                <a:tc>
                  <a:txBody>
                    <a:bodyPr/>
                    <a:lstStyle/>
                    <a:p>
                      <a:r>
                        <a:rPr lang="en-US" sz="1800" dirty="0"/>
                        <a:t>56.6</a:t>
                      </a:r>
                    </a:p>
                  </a:txBody>
                  <a:tcPr marL="93628" marR="93628" marT="46814" marB="46814"/>
                </a:tc>
                <a:extLst>
                  <a:ext uri="{0D108BD9-81ED-4DB2-BD59-A6C34878D82A}">
                    <a16:rowId xmlns:a16="http://schemas.microsoft.com/office/drawing/2014/main" val="2412440426"/>
                  </a:ext>
                </a:extLst>
              </a:tr>
              <a:tr h="379714">
                <a:tc>
                  <a:txBody>
                    <a:bodyPr/>
                    <a:lstStyle/>
                    <a:p>
                      <a:r>
                        <a:rPr lang="en-US" sz="1800" dirty="0"/>
                        <a:t>Recall</a:t>
                      </a:r>
                    </a:p>
                  </a:txBody>
                  <a:tcPr marL="93628" marR="93628" marT="46814" marB="46814"/>
                </a:tc>
                <a:tc>
                  <a:txBody>
                    <a:bodyPr/>
                    <a:lstStyle/>
                    <a:p>
                      <a:r>
                        <a:rPr lang="en-US" sz="1800" dirty="0"/>
                        <a:t>93.2</a:t>
                      </a:r>
                    </a:p>
                  </a:txBody>
                  <a:tcPr marL="93628" marR="93628" marT="46814" marB="46814"/>
                </a:tc>
                <a:tc>
                  <a:txBody>
                    <a:bodyPr/>
                    <a:lstStyle/>
                    <a:p>
                      <a:r>
                        <a:rPr lang="en-US" sz="1800" dirty="0"/>
                        <a:t>77.9</a:t>
                      </a:r>
                    </a:p>
                  </a:txBody>
                  <a:tcPr marL="93628" marR="93628" marT="46814" marB="46814"/>
                </a:tc>
                <a:tc>
                  <a:txBody>
                    <a:bodyPr/>
                    <a:lstStyle/>
                    <a:p>
                      <a:r>
                        <a:rPr lang="en-US" sz="1800" dirty="0"/>
                        <a:t>76.5</a:t>
                      </a:r>
                    </a:p>
                  </a:txBody>
                  <a:tcPr marL="93628" marR="93628" marT="46814" marB="46814"/>
                </a:tc>
                <a:extLst>
                  <a:ext uri="{0D108BD9-81ED-4DB2-BD59-A6C34878D82A}">
                    <a16:rowId xmlns:a16="http://schemas.microsoft.com/office/drawing/2014/main" val="3221847538"/>
                  </a:ext>
                </a:extLst>
              </a:tr>
              <a:tr h="379714">
                <a:tc>
                  <a:txBody>
                    <a:bodyPr/>
                    <a:lstStyle/>
                    <a:p>
                      <a:r>
                        <a:rPr lang="en-US" sz="1800" dirty="0"/>
                        <a:t>F1</a:t>
                      </a:r>
                    </a:p>
                  </a:txBody>
                  <a:tcPr marL="93628" marR="93628" marT="46814" marB="46814"/>
                </a:tc>
                <a:tc>
                  <a:txBody>
                    <a:bodyPr/>
                    <a:lstStyle/>
                    <a:p>
                      <a:r>
                        <a:rPr lang="en-US" sz="1800" dirty="0"/>
                        <a:t>61.6</a:t>
                      </a:r>
                    </a:p>
                  </a:txBody>
                  <a:tcPr marL="93628" marR="93628" marT="46814" marB="46814"/>
                </a:tc>
                <a:tc>
                  <a:txBody>
                    <a:bodyPr/>
                    <a:lstStyle/>
                    <a:p>
                      <a:r>
                        <a:rPr lang="en-US" sz="1800" dirty="0"/>
                        <a:t>65.3</a:t>
                      </a:r>
                    </a:p>
                  </a:txBody>
                  <a:tcPr marL="93628" marR="93628" marT="46814" marB="46814"/>
                </a:tc>
                <a:tc>
                  <a:txBody>
                    <a:bodyPr/>
                    <a:lstStyle/>
                    <a:p>
                      <a:r>
                        <a:rPr lang="en-US" sz="1800" dirty="0"/>
                        <a:t>65.1</a:t>
                      </a:r>
                    </a:p>
                  </a:txBody>
                  <a:tcPr marL="93628" marR="93628" marT="46814" marB="46814"/>
                </a:tc>
                <a:extLst>
                  <a:ext uri="{0D108BD9-81ED-4DB2-BD59-A6C34878D82A}">
                    <a16:rowId xmlns:a16="http://schemas.microsoft.com/office/drawing/2014/main" val="1655098238"/>
                  </a:ext>
                </a:extLst>
              </a:tr>
              <a:tr h="562265">
                <a:tc>
                  <a:txBody>
                    <a:bodyPr/>
                    <a:lstStyle/>
                    <a:p>
                      <a:r>
                        <a:rPr lang="en-US" sz="1800" dirty="0"/>
                        <a:t>Students Flagged</a:t>
                      </a:r>
                    </a:p>
                  </a:txBody>
                  <a:tcPr marL="93628" marR="93628" marT="46814" marB="46814"/>
                </a:tc>
                <a:tc>
                  <a:txBody>
                    <a:bodyPr/>
                    <a:lstStyle/>
                    <a:p>
                      <a:r>
                        <a:rPr lang="en-US" sz="1800" dirty="0"/>
                        <a:t>4029</a:t>
                      </a:r>
                    </a:p>
                  </a:txBody>
                  <a:tcPr marL="93628" marR="93628" marT="46814" marB="46814"/>
                </a:tc>
                <a:tc>
                  <a:txBody>
                    <a:bodyPr/>
                    <a:lstStyle/>
                    <a:p>
                      <a:r>
                        <a:rPr lang="en-US" sz="1800" dirty="0"/>
                        <a:t>2751</a:t>
                      </a:r>
                    </a:p>
                  </a:txBody>
                  <a:tcPr marL="93628" marR="93628" marT="46814" marB="46814"/>
                </a:tc>
                <a:tc>
                  <a:txBody>
                    <a:bodyPr/>
                    <a:lstStyle/>
                    <a:p>
                      <a:r>
                        <a:rPr lang="en-US" sz="1800" dirty="0"/>
                        <a:t>2680</a:t>
                      </a:r>
                    </a:p>
                  </a:txBody>
                  <a:tcPr marL="93628" marR="93628" marT="46814" marB="46814"/>
                </a:tc>
                <a:extLst>
                  <a:ext uri="{0D108BD9-81ED-4DB2-BD59-A6C34878D82A}">
                    <a16:rowId xmlns:a16="http://schemas.microsoft.com/office/drawing/2014/main" val="688288634"/>
                  </a:ext>
                </a:extLst>
              </a:tr>
            </a:tbl>
          </a:graphicData>
        </a:graphic>
      </p:graphicFrame>
    </p:spTree>
    <p:extLst>
      <p:ext uri="{BB962C8B-B14F-4D97-AF65-F5344CB8AC3E}">
        <p14:creationId xmlns:p14="http://schemas.microsoft.com/office/powerpoint/2010/main" val="1247965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B35C7-D92C-8B48-77F0-F626DE792948}"/>
              </a:ext>
            </a:extLst>
          </p:cNvPr>
          <p:cNvSpPr>
            <a:spLocks noGrp="1"/>
          </p:cNvSpPr>
          <p:nvPr>
            <p:ph type="title"/>
          </p:nvPr>
        </p:nvSpPr>
        <p:spPr/>
        <p:txBody>
          <a:bodyPr/>
          <a:lstStyle/>
          <a:p>
            <a:r>
              <a:rPr lang="en-US" dirty="0"/>
              <a:t>Ethical Consideration</a:t>
            </a:r>
          </a:p>
        </p:txBody>
      </p:sp>
      <p:sp>
        <p:nvSpPr>
          <p:cNvPr id="3" name="Content Placeholder 2">
            <a:extLst>
              <a:ext uri="{FF2B5EF4-FFF2-40B4-BE49-F238E27FC236}">
                <a16:creationId xmlns:a16="http://schemas.microsoft.com/office/drawing/2014/main" id="{994A7A1B-5E2F-F155-FA6D-7B89C629B0F8}"/>
              </a:ext>
            </a:extLst>
          </p:cNvPr>
          <p:cNvSpPr>
            <a:spLocks noGrp="1"/>
          </p:cNvSpPr>
          <p:nvPr>
            <p:ph idx="1"/>
          </p:nvPr>
        </p:nvSpPr>
        <p:spPr>
          <a:xfrm>
            <a:off x="2226403" y="2629626"/>
            <a:ext cx="6682759" cy="3416300"/>
          </a:xfrm>
        </p:spPr>
        <p:txBody>
          <a:bodyPr>
            <a:normAutofit fontScale="92500" lnSpcReduction="10000"/>
          </a:bodyPr>
          <a:lstStyle/>
          <a:p>
            <a:r>
              <a:rPr lang="en-US" sz="2800" dirty="0"/>
              <a:t>Algorithmic Bias</a:t>
            </a:r>
          </a:p>
          <a:p>
            <a:endParaRPr lang="en-US" sz="2800" dirty="0"/>
          </a:p>
          <a:p>
            <a:r>
              <a:rPr lang="en-US" sz="2800" dirty="0"/>
              <a:t>Student labeling and false positives</a:t>
            </a:r>
          </a:p>
          <a:p>
            <a:endParaRPr lang="en-US" sz="2800" dirty="0"/>
          </a:p>
          <a:p>
            <a:r>
              <a:rPr lang="en-US" sz="2800" dirty="0"/>
              <a:t>Transparency and explainability</a:t>
            </a:r>
          </a:p>
          <a:p>
            <a:endParaRPr lang="en-US" sz="2800" dirty="0"/>
          </a:p>
          <a:p>
            <a:r>
              <a:rPr lang="en-US" sz="2800" dirty="0"/>
              <a:t>Governance &amp; misuse</a:t>
            </a:r>
          </a:p>
        </p:txBody>
      </p:sp>
    </p:spTree>
    <p:extLst>
      <p:ext uri="{BB962C8B-B14F-4D97-AF65-F5344CB8AC3E}">
        <p14:creationId xmlns:p14="http://schemas.microsoft.com/office/powerpoint/2010/main" val="3380115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BEE0-2565-78FF-2FC5-F1A93F9FCC00}"/>
              </a:ext>
            </a:extLst>
          </p:cNvPr>
          <p:cNvSpPr>
            <a:spLocks noGrp="1"/>
          </p:cNvSpPr>
          <p:nvPr>
            <p:ph type="title"/>
          </p:nvPr>
        </p:nvSpPr>
        <p:spPr/>
        <p:txBody>
          <a:bodyPr/>
          <a:lstStyle/>
          <a:p>
            <a:r>
              <a:rPr lang="en-US" dirty="0"/>
              <a:t>Model Limitations</a:t>
            </a:r>
          </a:p>
        </p:txBody>
      </p:sp>
      <p:sp>
        <p:nvSpPr>
          <p:cNvPr id="3" name="Content Placeholder 2">
            <a:extLst>
              <a:ext uri="{FF2B5EF4-FFF2-40B4-BE49-F238E27FC236}">
                <a16:creationId xmlns:a16="http://schemas.microsoft.com/office/drawing/2014/main" id="{F3525E82-931C-DB9C-4D92-BBAE57AA008C}"/>
              </a:ext>
            </a:extLst>
          </p:cNvPr>
          <p:cNvSpPr>
            <a:spLocks noGrp="1"/>
          </p:cNvSpPr>
          <p:nvPr>
            <p:ph idx="1"/>
          </p:nvPr>
        </p:nvSpPr>
        <p:spPr>
          <a:xfrm>
            <a:off x="2328717" y="2629627"/>
            <a:ext cx="7534565" cy="3501208"/>
          </a:xfrm>
        </p:spPr>
        <p:txBody>
          <a:bodyPr>
            <a:normAutofit/>
          </a:bodyPr>
          <a:lstStyle/>
          <a:p>
            <a:r>
              <a:rPr lang="en-US" sz="2400" dirty="0"/>
              <a:t>No longitudinal attendance history</a:t>
            </a:r>
          </a:p>
          <a:p>
            <a:endParaRPr lang="en-US" sz="2400" dirty="0"/>
          </a:p>
          <a:p>
            <a:r>
              <a:rPr lang="en-US" sz="2400" dirty="0"/>
              <a:t>Limited contextual/socioeconomic variables</a:t>
            </a:r>
          </a:p>
          <a:p>
            <a:endParaRPr lang="en-US" sz="2400" dirty="0"/>
          </a:p>
          <a:p>
            <a:r>
              <a:rPr lang="en-US" sz="2400" dirty="0"/>
              <a:t>Cross-sectional dataset</a:t>
            </a:r>
          </a:p>
          <a:p>
            <a:endParaRPr lang="en-US" sz="2400" dirty="0"/>
          </a:p>
          <a:p>
            <a:r>
              <a:rPr lang="en-US" sz="2400" dirty="0"/>
              <a:t>Potential measurement error</a:t>
            </a:r>
          </a:p>
        </p:txBody>
      </p:sp>
    </p:spTree>
    <p:extLst>
      <p:ext uri="{BB962C8B-B14F-4D97-AF65-F5344CB8AC3E}">
        <p14:creationId xmlns:p14="http://schemas.microsoft.com/office/powerpoint/2010/main" val="3061066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9CA7-C37A-2FBD-31E7-A85C765E2BDC}"/>
              </a:ext>
            </a:extLst>
          </p:cNvPr>
          <p:cNvSpPr>
            <a:spLocks noGrp="1"/>
          </p:cNvSpPr>
          <p:nvPr>
            <p:ph type="title"/>
          </p:nvPr>
        </p:nvSpPr>
        <p:spPr/>
        <p:txBody>
          <a:bodyPr/>
          <a:lstStyle/>
          <a:p>
            <a:r>
              <a:rPr lang="en-US" dirty="0"/>
              <a:t>Operationalizing Recommendations</a:t>
            </a:r>
          </a:p>
        </p:txBody>
      </p:sp>
      <p:sp>
        <p:nvSpPr>
          <p:cNvPr id="3" name="Content Placeholder 2">
            <a:extLst>
              <a:ext uri="{FF2B5EF4-FFF2-40B4-BE49-F238E27FC236}">
                <a16:creationId xmlns:a16="http://schemas.microsoft.com/office/drawing/2014/main" id="{1509AAFE-C890-B0C0-D9C6-A35D3E33B488}"/>
              </a:ext>
            </a:extLst>
          </p:cNvPr>
          <p:cNvSpPr>
            <a:spLocks noGrp="1"/>
          </p:cNvSpPr>
          <p:nvPr>
            <p:ph idx="1"/>
          </p:nvPr>
        </p:nvSpPr>
        <p:spPr>
          <a:xfrm>
            <a:off x="2219043" y="2507706"/>
            <a:ext cx="7753914" cy="3979694"/>
          </a:xfrm>
        </p:spPr>
        <p:txBody>
          <a:bodyPr>
            <a:normAutofit fontScale="92500" lnSpcReduction="10000"/>
          </a:bodyPr>
          <a:lstStyle/>
          <a:p>
            <a:r>
              <a:rPr lang="en-US" sz="2400" dirty="0"/>
              <a:t>Use model as screening support tool only</a:t>
            </a:r>
          </a:p>
          <a:p>
            <a:endParaRPr lang="en-US" sz="2400" dirty="0"/>
          </a:p>
          <a:p>
            <a:r>
              <a:rPr lang="en-US" sz="2400" dirty="0"/>
              <a:t>Prioritize recall-oriented thresholds</a:t>
            </a:r>
          </a:p>
          <a:p>
            <a:endParaRPr lang="en-US" sz="2400" dirty="0"/>
          </a:p>
          <a:p>
            <a:r>
              <a:rPr lang="en-US" sz="2400" dirty="0"/>
              <a:t>Incorporate longitudinal &amp; contextual features</a:t>
            </a:r>
          </a:p>
          <a:p>
            <a:endParaRPr lang="en-US" sz="2400" dirty="0"/>
          </a:p>
          <a:p>
            <a:r>
              <a:rPr lang="en-US" sz="2400" dirty="0"/>
              <a:t>Conduct bias audits before deployment</a:t>
            </a:r>
          </a:p>
          <a:p>
            <a:endParaRPr lang="en-US" sz="2400" dirty="0"/>
          </a:p>
          <a:p>
            <a:r>
              <a:rPr lang="en-US" sz="2400" dirty="0"/>
              <a:t>Maintain human-in-the-loop oversight</a:t>
            </a:r>
          </a:p>
        </p:txBody>
      </p:sp>
    </p:spTree>
    <p:extLst>
      <p:ext uri="{BB962C8B-B14F-4D97-AF65-F5344CB8AC3E}">
        <p14:creationId xmlns:p14="http://schemas.microsoft.com/office/powerpoint/2010/main" val="3897101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0DC72-C87A-6F0F-F03B-C292E7D48D4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A145EE7-2F83-6736-9DE1-ED44E619CD49}"/>
              </a:ext>
            </a:extLst>
          </p:cNvPr>
          <p:cNvSpPr>
            <a:spLocks noGrp="1"/>
          </p:cNvSpPr>
          <p:nvPr>
            <p:ph idx="1"/>
          </p:nvPr>
        </p:nvSpPr>
        <p:spPr/>
        <p:txBody>
          <a:bodyPr>
            <a:normAutofit/>
          </a:bodyPr>
          <a:lstStyle/>
          <a:p>
            <a:r>
              <a:rPr lang="en-US" sz="2800" dirty="0"/>
              <a:t>Predictive Modeling is a feasible support-tool</a:t>
            </a:r>
          </a:p>
          <a:p>
            <a:endParaRPr lang="en-US" sz="2800" dirty="0"/>
          </a:p>
          <a:p>
            <a:r>
              <a:rPr lang="en-US" sz="2800" dirty="0"/>
              <a:t>Engagement behaviors are the risk drivers</a:t>
            </a:r>
          </a:p>
          <a:p>
            <a:endParaRPr lang="en-US" sz="2800" dirty="0"/>
          </a:p>
          <a:p>
            <a:r>
              <a:rPr lang="en-US" sz="2800" dirty="0"/>
              <a:t>Ethical safeguards are required for effective implementation</a:t>
            </a:r>
          </a:p>
        </p:txBody>
      </p:sp>
    </p:spTree>
    <p:extLst>
      <p:ext uri="{BB962C8B-B14F-4D97-AF65-F5344CB8AC3E}">
        <p14:creationId xmlns:p14="http://schemas.microsoft.com/office/powerpoint/2010/main" val="23466697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374</TotalTime>
  <Words>1805</Words>
  <Application>Microsoft Office PowerPoint</Application>
  <PresentationFormat>Widescreen</PresentationFormat>
  <Paragraphs>181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Century Gothic</vt:lpstr>
      <vt:lpstr>Wingdings 3</vt:lpstr>
      <vt:lpstr>Ion Boardroom</vt:lpstr>
      <vt:lpstr>Early Student Intervention Student Attendance Indicator</vt:lpstr>
      <vt:lpstr>Effective and Efficient Support</vt:lpstr>
      <vt:lpstr>Project Objective</vt:lpstr>
      <vt:lpstr>Training Dataset</vt:lpstr>
      <vt:lpstr>Data Preparation</vt:lpstr>
      <vt:lpstr>Modeling Approach</vt:lpstr>
      <vt:lpstr>Logistic Regression Results</vt:lpstr>
      <vt:lpstr>Random Forest Results</vt:lpstr>
      <vt:lpstr>Modeling Classification Evaluation</vt:lpstr>
      <vt:lpstr>ROC Curve</vt:lpstr>
      <vt:lpstr>Identified Key Features</vt:lpstr>
      <vt:lpstr>Threshold Tuning: Why It Matters</vt:lpstr>
      <vt:lpstr>Threshold Tradeoff Results</vt:lpstr>
      <vt:lpstr>Operational Simulation</vt:lpstr>
      <vt:lpstr>Ethical Consideration</vt:lpstr>
      <vt:lpstr>Model Limitations</vt:lpstr>
      <vt:lpstr>Operationalizing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Stirling</dc:creator>
  <cp:lastModifiedBy>Nicholas Stirling</cp:lastModifiedBy>
  <cp:revision>34</cp:revision>
  <dcterms:created xsi:type="dcterms:W3CDTF">2026-03-02T23:38:36Z</dcterms:created>
  <dcterms:modified xsi:type="dcterms:W3CDTF">2026-05-24T01:20:13Z</dcterms:modified>
</cp:coreProperties>
</file>